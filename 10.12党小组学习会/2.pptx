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5" r:id="rId3"/>
  </p:sldMasterIdLst>
  <p:notesMasterIdLst>
    <p:notesMasterId r:id="rId5"/>
  </p:notesMasterIdLst>
  <p:handoutMasterIdLst>
    <p:handoutMasterId r:id="rId23"/>
  </p:handoutMasterIdLst>
  <p:sldIdLst>
    <p:sldId id="256" r:id="rId4"/>
    <p:sldId id="271" r:id="rId6"/>
    <p:sldId id="272" r:id="rId7"/>
    <p:sldId id="257" r:id="rId8"/>
    <p:sldId id="269" r:id="rId9"/>
    <p:sldId id="273" r:id="rId10"/>
    <p:sldId id="260" r:id="rId11"/>
    <p:sldId id="261" r:id="rId12"/>
    <p:sldId id="274" r:id="rId13"/>
    <p:sldId id="263" r:id="rId14"/>
    <p:sldId id="264" r:id="rId15"/>
    <p:sldId id="275" r:id="rId16"/>
    <p:sldId id="279" r:id="rId17"/>
    <p:sldId id="267" r:id="rId18"/>
    <p:sldId id="268" r:id="rId19"/>
    <p:sldId id="277" r:id="rId20"/>
    <p:sldId id="278" r:id="rId21"/>
    <p:sldId id="270" r:id="rId2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2E31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220" autoAdjust="0"/>
  </p:normalViewPr>
  <p:slideViewPr>
    <p:cSldViewPr snapToGrid="0" showGuides="1">
      <p:cViewPr varScale="1">
        <p:scale>
          <a:sx n="88" d="100"/>
          <a:sy n="88" d="100"/>
        </p:scale>
        <p:origin x="213" y="57"/>
      </p:cViewPr>
      <p:guideLst>
        <p:guide orient="horz" pos="2160"/>
        <p:guide pos="38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45号-冰宇雅宋" panose="00000500000000000000" charset="-122"/>
                <a:ea typeface="字魂45号-冰宇雅宋" panose="00000500000000000000" charset="-122"/>
                <a:cs typeface="字魂45号-冰宇雅宋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45号-冰宇雅宋" panose="00000500000000000000" charset="-122"/>
                <a:ea typeface="字魂45号-冰宇雅宋" panose="00000500000000000000" charset="-122"/>
                <a:cs typeface="字魂45号-冰宇雅宋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45号-冰宇雅宋" panose="00000500000000000000" charset="-122"/>
                <a:ea typeface="字魂45号-冰宇雅宋" panose="00000500000000000000" charset="-122"/>
                <a:cs typeface="字魂45号-冰宇雅宋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45号-冰宇雅宋" panose="00000500000000000000" charset="-122"/>
                <a:ea typeface="字魂45号-冰宇雅宋" panose="00000500000000000000" charset="-122"/>
                <a:cs typeface="字魂45号-冰宇雅宋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字魂45号-冰宇雅宋" panose="00000500000000000000" charset="-122"/>
        <a:ea typeface="字魂45号-冰宇雅宋" panose="00000500000000000000" charset="-122"/>
        <a:cs typeface="字魂45号-冰宇雅宋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45号-冰宇雅宋" panose="00000500000000000000" charset="-122"/>
        <a:ea typeface="字魂45号-冰宇雅宋" panose="00000500000000000000" charset="-122"/>
        <a:cs typeface="字魂45号-冰宇雅宋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45号-冰宇雅宋" panose="00000500000000000000" charset="-122"/>
        <a:ea typeface="字魂45号-冰宇雅宋" panose="00000500000000000000" charset="-122"/>
        <a:cs typeface="字魂45号-冰宇雅宋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45号-冰宇雅宋" panose="00000500000000000000" charset="-122"/>
        <a:ea typeface="字魂45号-冰宇雅宋" panose="00000500000000000000" charset="-122"/>
        <a:cs typeface="字魂45号-冰宇雅宋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45号-冰宇雅宋" panose="00000500000000000000" charset="-122"/>
        <a:ea typeface="字魂45号-冰宇雅宋" panose="00000500000000000000" charset="-122"/>
        <a:cs typeface="字魂45号-冰宇雅宋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29700" y="11430"/>
            <a:ext cx="3166110" cy="6858000"/>
          </a:xfrm>
          <a:prstGeom prst="rect">
            <a:avLst/>
          </a:prstGeom>
        </p:spPr>
      </p:pic>
      <p:pic>
        <p:nvPicPr>
          <p:cNvPr id="3" name="图片 2" descr="2"/>
          <p:cNvPicPr>
            <a:picLocks noChangeAspect="1"/>
          </p:cNvPicPr>
          <p:nvPr userDrawn="1"/>
        </p:nvPicPr>
        <p:blipFill>
          <a:blip r:embed="rId3"/>
          <a:srcRect t="6063"/>
          <a:stretch>
            <a:fillRect/>
          </a:stretch>
        </p:blipFill>
        <p:spPr>
          <a:xfrm>
            <a:off x="0" y="11430"/>
            <a:ext cx="5626100" cy="6847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>
            <a:off x="283210" y="281305"/>
            <a:ext cx="11625580" cy="6315710"/>
          </a:xfrm>
          <a:prstGeom prst="roundRect">
            <a:avLst>
              <a:gd name="adj" fmla="val 4956"/>
            </a:avLst>
          </a:prstGeom>
          <a:solidFill>
            <a:srgbClr val="EAEAEA"/>
          </a:solidFill>
          <a:ln>
            <a:solidFill>
              <a:srgbClr val="812E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45号-冰宇雅宋" panose="00000500000000000000" charset="-122"/>
              <a:ea typeface="字魂45号-冰宇雅宋" panose="00000500000000000000" charset="-122"/>
              <a:cs typeface="字魂45号-冰宇雅宋" panose="00000500000000000000" charset="-122"/>
            </a:endParaRPr>
          </a:p>
        </p:txBody>
      </p:sp>
    </p:spTree>
  </p:cSld>
  <p:clrMapOvr>
    <a:masterClrMapping/>
  </p:clrMapOvr>
  <p:hf sldNum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7" Type="http://schemas.openxmlformats.org/officeDocument/2006/relationships/theme" Target="../theme/theme1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4.png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6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1" Type="http://schemas.openxmlformats.org/officeDocument/2006/relationships/slideLayout" Target="../slideLayouts/slideLayout46.xml"/><Relationship Id="rId20" Type="http://schemas.openxmlformats.org/officeDocument/2006/relationships/tags" Target="../tags/tag47.xml"/><Relationship Id="rId2" Type="http://schemas.openxmlformats.org/officeDocument/2006/relationships/tags" Target="../tags/tag29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3" Type="http://schemas.openxmlformats.org/officeDocument/2006/relationships/slideLayout" Target="../slideLayouts/slideLayout46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.xml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3"/>
          <p:cNvPicPr>
            <a:picLocks noChangeAspect="1"/>
          </p:cNvPicPr>
          <p:nvPr/>
        </p:nvPicPr>
        <p:blipFill>
          <a:blip r:embed="rId1">
            <a:lum bright="-6000"/>
          </a:blip>
          <a:stretch>
            <a:fillRect/>
          </a:stretch>
        </p:blipFill>
        <p:spPr>
          <a:xfrm rot="5400000">
            <a:off x="5585777" y="74613"/>
            <a:ext cx="4998085" cy="7048500"/>
          </a:xfrm>
          <a:prstGeom prst="rect">
            <a:avLst/>
          </a:prstGeom>
        </p:spPr>
      </p:pic>
      <p:sp>
        <p:nvSpPr>
          <p:cNvPr id="7" name="任意多边形 6"/>
          <p:cNvSpPr/>
          <p:nvPr/>
        </p:nvSpPr>
        <p:spPr>
          <a:xfrm rot="5400000">
            <a:off x="5194935" y="-291465"/>
            <a:ext cx="5088255" cy="70110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13" h="11041">
                <a:moveTo>
                  <a:pt x="0" y="0"/>
                </a:moveTo>
                <a:lnTo>
                  <a:pt x="8013" y="0"/>
                </a:lnTo>
                <a:lnTo>
                  <a:pt x="8013" y="11041"/>
                </a:lnTo>
                <a:lnTo>
                  <a:pt x="0" y="11041"/>
                </a:lnTo>
                <a:lnTo>
                  <a:pt x="0" y="569"/>
                </a:lnTo>
                <a:lnTo>
                  <a:pt x="2686" y="569"/>
                </a:lnTo>
                <a:lnTo>
                  <a:pt x="2686" y="449"/>
                </a:lnTo>
                <a:lnTo>
                  <a:pt x="0" y="449"/>
                </a:lnTo>
                <a:lnTo>
                  <a:pt x="0" y="0"/>
                </a:lnTo>
                <a:close/>
              </a:path>
            </a:pathLst>
          </a:custGeom>
          <a:solidFill>
            <a:srgbClr val="812E31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0" y="3198495"/>
            <a:ext cx="2254250" cy="355409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2908" h="4586">
                <a:moveTo>
                  <a:pt x="0" y="84"/>
                </a:moveTo>
                <a:cubicBezTo>
                  <a:pt x="142" y="34"/>
                  <a:pt x="511" y="-9"/>
                  <a:pt x="615" y="0"/>
                </a:cubicBezTo>
                <a:cubicBezTo>
                  <a:pt x="1901" y="-39"/>
                  <a:pt x="2938" y="1138"/>
                  <a:pt x="2907" y="2292"/>
                </a:cubicBezTo>
                <a:cubicBezTo>
                  <a:pt x="2946" y="3578"/>
                  <a:pt x="1769" y="4615"/>
                  <a:pt x="615" y="4584"/>
                </a:cubicBezTo>
                <a:cubicBezTo>
                  <a:pt x="409" y="4594"/>
                  <a:pt x="61" y="4523"/>
                  <a:pt x="0" y="4500"/>
                </a:cubicBezTo>
                <a:lnTo>
                  <a:pt x="0" y="84"/>
                </a:lnTo>
                <a:close/>
              </a:path>
            </a:pathLst>
          </a:custGeom>
          <a:solidFill>
            <a:srgbClr val="812E3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312545" y="2752725"/>
            <a:ext cx="2480310" cy="2480310"/>
          </a:xfrm>
          <a:prstGeom prst="ellipse">
            <a:avLst/>
          </a:prstGeom>
          <a:solidFill>
            <a:srgbClr val="812E31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pic>
        <p:nvPicPr>
          <p:cNvPr id="11" name="图片 10" descr="4"/>
          <p:cNvPicPr>
            <a:picLocks noChangeAspect="1"/>
          </p:cNvPicPr>
          <p:nvPr/>
        </p:nvPicPr>
        <p:blipFill>
          <a:blip r:embed="rId2">
            <a:lum bright="-6000"/>
          </a:blip>
          <a:srcRect t="6780"/>
          <a:stretch>
            <a:fillRect/>
          </a:stretch>
        </p:blipFill>
        <p:spPr>
          <a:xfrm>
            <a:off x="947420" y="0"/>
            <a:ext cx="1694815" cy="298005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712335" y="815975"/>
            <a:ext cx="12439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solidFill>
                  <a:schemeClr val="bg1">
                    <a:alpha val="66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以</a:t>
            </a:r>
            <a:endParaRPr lang="zh-CN" altLang="en-US" sz="8800" dirty="0">
              <a:solidFill>
                <a:schemeClr val="bg1">
                  <a:alpha val="66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514975" y="1411605"/>
            <a:ext cx="12439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文</a:t>
            </a:r>
            <a:endParaRPr lang="zh-CN" altLang="en-US" sz="9600" dirty="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30190" y="2735262"/>
            <a:ext cx="12439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bg1">
                    <a:alpha val="66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铸</a:t>
            </a:r>
            <a:endParaRPr lang="zh-CN" altLang="en-US" sz="6600" dirty="0">
              <a:solidFill>
                <a:schemeClr val="bg1">
                  <a:alpha val="66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54220" y="3411855"/>
            <a:ext cx="12439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国</a:t>
            </a:r>
            <a:endParaRPr lang="zh-CN" altLang="en-US" sz="8800" dirty="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533232" y="3877946"/>
            <a:ext cx="12439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魂</a:t>
            </a:r>
            <a:endParaRPr lang="zh-CN" altLang="en-US" sz="9600" dirty="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404734" y="4468495"/>
            <a:ext cx="3415665" cy="850255"/>
          </a:xfrm>
          <a:prstGeom prst="rect">
            <a:avLst/>
          </a:prstGeom>
          <a:solidFill>
            <a:srgbClr val="EAEAEA">
              <a:alpha val="7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汇报人：</a:t>
            </a:r>
            <a:endParaRPr lang="en-US" altLang="zh-CN" sz="2400" dirty="0">
              <a:solidFill>
                <a:srgbClr val="812E3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  <a:p>
            <a:pPr algn="ctr"/>
            <a:r>
              <a:rPr lang="en-US" altLang="zh-CN" sz="24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              </a:t>
            </a:r>
            <a:endParaRPr lang="zh-CN" altLang="en-US" sz="2400" dirty="0">
              <a:solidFill>
                <a:srgbClr val="812E3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404735" y="2428240"/>
            <a:ext cx="3152775" cy="173752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dirty="0">
                <a:solidFill>
                  <a:srgbClr val="EAEAEA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中国不是普通的国家，而是绵延五千年的文明型国家，以文化认同立国。</a:t>
            </a:r>
            <a:endParaRPr lang="en-US" altLang="zh-CN" sz="2000" dirty="0">
              <a:solidFill>
                <a:srgbClr val="EAEAEA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solidFill>
                  <a:srgbClr val="EAEAEA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                       </a:t>
            </a:r>
            <a:r>
              <a:rPr lang="en-US" altLang="zh-CN" dirty="0">
                <a:solidFill>
                  <a:srgbClr val="EAEAEA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——</a:t>
            </a:r>
            <a:r>
              <a:rPr lang="zh-CN" altLang="en-US" dirty="0">
                <a:solidFill>
                  <a:srgbClr val="EAEAEA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马丁</a:t>
            </a:r>
            <a:r>
              <a:rPr lang="en-US" altLang="zh-CN" dirty="0">
                <a:solidFill>
                  <a:srgbClr val="EAEAEA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·</a:t>
            </a:r>
            <a:r>
              <a:rPr lang="zh-CN" altLang="en-US" dirty="0">
                <a:solidFill>
                  <a:srgbClr val="EAEAEA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雅克</a:t>
            </a:r>
            <a:endParaRPr lang="zh-CN" altLang="en-US" dirty="0">
              <a:solidFill>
                <a:srgbClr val="EAEAEA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436167" y="1539251"/>
            <a:ext cx="3384232" cy="7558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600" b="1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文化兴则国家兴</a:t>
            </a:r>
            <a:endParaRPr lang="zh-CN" altLang="en-US" sz="3600" b="1" dirty="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7511415" y="2305685"/>
            <a:ext cx="3001645" cy="0"/>
          </a:xfrm>
          <a:prstGeom prst="line">
            <a:avLst/>
          </a:prstGeom>
          <a:ln w="22225">
            <a:solidFill>
              <a:srgbClr val="EAEA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8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300"/>
                            </p:stCondLst>
                            <p:childTnLst>
                              <p:par>
                                <p:cTn id="7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animBg="1"/>
      <p:bldP spid="9" grpId="0" animBg="1"/>
      <p:bldP spid="13" grpId="0"/>
      <p:bldP spid="14" grpId="0"/>
      <p:bldP spid="15" grpId="0"/>
      <p:bldP spid="16" grpId="0"/>
      <p:bldP spid="17" grpId="0"/>
      <p:bldP spid="19" grpId="0" animBg="1"/>
      <p:bldP spid="20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3"/>
          <p:cNvPicPr>
            <a:picLocks noChangeAspect="1"/>
          </p:cNvPicPr>
          <p:nvPr/>
        </p:nvPicPr>
        <p:blipFill>
          <a:blip r:embed="rId1">
            <a:lum bright="-6000"/>
          </a:blip>
          <a:stretch>
            <a:fillRect/>
          </a:stretch>
        </p:blipFill>
        <p:spPr>
          <a:xfrm rot="5400000">
            <a:off x="3763010" y="-142875"/>
            <a:ext cx="4691380" cy="8095615"/>
          </a:xfrm>
          <a:prstGeom prst="rect">
            <a:avLst/>
          </a:prstGeom>
        </p:spPr>
      </p:pic>
      <p:sp>
        <p:nvSpPr>
          <p:cNvPr id="7" name="任意多边形 6"/>
          <p:cNvSpPr/>
          <p:nvPr/>
        </p:nvSpPr>
        <p:spPr>
          <a:xfrm rot="5400000">
            <a:off x="3349625" y="-476250"/>
            <a:ext cx="4776470" cy="80524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13" h="11041">
                <a:moveTo>
                  <a:pt x="0" y="0"/>
                </a:moveTo>
                <a:lnTo>
                  <a:pt x="8013" y="0"/>
                </a:lnTo>
                <a:lnTo>
                  <a:pt x="8013" y="11041"/>
                </a:lnTo>
                <a:lnTo>
                  <a:pt x="0" y="11041"/>
                </a:lnTo>
                <a:lnTo>
                  <a:pt x="0" y="569"/>
                </a:lnTo>
                <a:lnTo>
                  <a:pt x="2686" y="569"/>
                </a:lnTo>
                <a:lnTo>
                  <a:pt x="2686" y="449"/>
                </a:lnTo>
                <a:lnTo>
                  <a:pt x="0" y="449"/>
                </a:lnTo>
                <a:lnTo>
                  <a:pt x="0" y="0"/>
                </a:lnTo>
                <a:close/>
              </a:path>
            </a:pathLst>
          </a:custGeom>
          <a:solidFill>
            <a:srgbClr val="812E31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pic>
        <p:nvPicPr>
          <p:cNvPr id="11" name="图片 10" descr="4"/>
          <p:cNvPicPr>
            <a:picLocks noChangeAspect="1"/>
          </p:cNvPicPr>
          <p:nvPr/>
        </p:nvPicPr>
        <p:blipFill>
          <a:blip r:embed="rId2">
            <a:lum bright="-6000"/>
          </a:blip>
          <a:srcRect t="6780"/>
          <a:stretch>
            <a:fillRect/>
          </a:stretch>
        </p:blipFill>
        <p:spPr>
          <a:xfrm flipH="1">
            <a:off x="9987280" y="0"/>
            <a:ext cx="1694815" cy="29800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31390" y="2150110"/>
            <a:ext cx="1243965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>
                <a:solidFill>
                  <a:schemeClr val="bg1">
                    <a:alpha val="66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目录</a:t>
            </a:r>
            <a:endParaRPr lang="zh-CN" altLang="en-US" sz="8800">
              <a:solidFill>
                <a:schemeClr val="bg1">
                  <a:alpha val="66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110990" y="2079625"/>
            <a:ext cx="7289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壹</a:t>
            </a:r>
            <a:endParaRPr lang="zh-CN" altLang="en-US" sz="400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sym typeface="Arial" panose="020B0604020202020204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4093845" y="3134995"/>
            <a:ext cx="7289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辩论</a:t>
            </a:r>
            <a:endParaRPr lang="zh-CN" altLang="en-US" sz="280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sym typeface="Arial" panose="020B0604020202020204"/>
            </a:endParaRPr>
          </a:p>
        </p:txBody>
      </p: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>
            <a:off x="4970145" y="3134995"/>
            <a:ext cx="0" cy="1995805"/>
          </a:xfrm>
          <a:prstGeom prst="line">
            <a:avLst/>
          </a:prstGeom>
          <a:ln w="22225">
            <a:solidFill>
              <a:srgbClr val="EAEA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296535" y="2079625"/>
            <a:ext cx="7289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贰</a:t>
            </a:r>
            <a:endParaRPr lang="zh-CN" altLang="en-US" sz="400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sym typeface="Arial" panose="020B0604020202020204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5279391" y="3134996"/>
            <a:ext cx="3594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文化兴</a:t>
            </a:r>
            <a:endParaRPr lang="en-US" altLang="zh-CN" sz="2400" dirty="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sym typeface="Arial" panose="020B0604020202020204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8"/>
            </p:custDataLst>
          </p:nvPr>
        </p:nvCxnSpPr>
        <p:spPr>
          <a:xfrm>
            <a:off x="6155690" y="3134995"/>
            <a:ext cx="0" cy="1995805"/>
          </a:xfrm>
          <a:prstGeom prst="line">
            <a:avLst/>
          </a:prstGeom>
          <a:ln w="22225">
            <a:solidFill>
              <a:srgbClr val="EAEA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6482080" y="2079625"/>
            <a:ext cx="7289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叁</a:t>
            </a:r>
            <a:endParaRPr lang="zh-CN" altLang="en-US" sz="400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sym typeface="Arial" panose="020B0604020202020204"/>
            </a:endParaRPr>
          </a:p>
        </p:txBody>
      </p:sp>
      <p:sp>
        <p:nvSpPr>
          <p:cNvPr id="24" name="文本框 23"/>
          <p:cNvSpPr txBox="1"/>
          <p:nvPr>
            <p:custDataLst>
              <p:tags r:id="rId10"/>
            </p:custDataLst>
          </p:nvPr>
        </p:nvSpPr>
        <p:spPr>
          <a:xfrm>
            <a:off x="6464935" y="3134994"/>
            <a:ext cx="3594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文化兴</a:t>
            </a:r>
            <a:endParaRPr lang="zh-CN" altLang="en-US" sz="2400" dirty="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sym typeface="Arial" panose="020B0604020202020204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11"/>
            </p:custDataLst>
          </p:nvPr>
        </p:nvCxnSpPr>
        <p:spPr>
          <a:xfrm>
            <a:off x="7341235" y="3134995"/>
            <a:ext cx="0" cy="1995805"/>
          </a:xfrm>
          <a:prstGeom prst="line">
            <a:avLst/>
          </a:prstGeom>
          <a:ln w="22225">
            <a:solidFill>
              <a:srgbClr val="EAEA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>
            <p:custDataLst>
              <p:tags r:id="rId12"/>
            </p:custDataLst>
          </p:nvPr>
        </p:nvSpPr>
        <p:spPr>
          <a:xfrm>
            <a:off x="7667625" y="2079625"/>
            <a:ext cx="7289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肆</a:t>
            </a:r>
            <a:endParaRPr lang="zh-CN" altLang="en-US" sz="4000" dirty="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sym typeface="Arial" panose="020B0604020202020204"/>
            </a:endParaRPr>
          </a:p>
        </p:txBody>
      </p:sp>
      <p:sp>
        <p:nvSpPr>
          <p:cNvPr id="27" name="文本框 26"/>
          <p:cNvSpPr txBox="1"/>
          <p:nvPr>
            <p:custDataLst>
              <p:tags r:id="rId13"/>
            </p:custDataLst>
          </p:nvPr>
        </p:nvSpPr>
        <p:spPr>
          <a:xfrm>
            <a:off x="7650480" y="3134994"/>
            <a:ext cx="3161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文化兴</a:t>
            </a:r>
            <a:endParaRPr lang="zh-CN" altLang="en-US" sz="2400" dirty="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sym typeface="Arial" panose="020B0604020202020204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8526780" y="3134995"/>
            <a:ext cx="0" cy="1995805"/>
          </a:xfrm>
          <a:prstGeom prst="line">
            <a:avLst/>
          </a:prstGeom>
          <a:ln w="22225">
            <a:solidFill>
              <a:srgbClr val="EAEA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4"/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 dirty="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95583" y="3134995"/>
            <a:ext cx="4127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捍卫国家主权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781128" y="3184071"/>
            <a:ext cx="4127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转化为经济硬实力</a:t>
            </a:r>
            <a:endParaRPr lang="zh-CN" altLang="en-US" sz="2000" dirty="0"/>
          </a:p>
        </p:txBody>
      </p:sp>
      <p:sp>
        <p:nvSpPr>
          <p:cNvPr id="14" name="文本框 13"/>
          <p:cNvSpPr txBox="1"/>
          <p:nvPr/>
        </p:nvSpPr>
        <p:spPr>
          <a:xfrm>
            <a:off x="7984232" y="3134994"/>
            <a:ext cx="33490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转化为经济硬实力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2" grpId="0"/>
      <p:bldP spid="3" grpId="0"/>
      <p:bldP spid="4" grpId="0"/>
      <p:bldP spid="10" grpId="0"/>
      <p:bldP spid="12" grpId="0"/>
      <p:bldP spid="23" grpId="0"/>
      <p:bldP spid="24" grpId="0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3"/>
          <p:cNvPicPr>
            <a:picLocks noChangeAspect="1"/>
          </p:cNvPicPr>
          <p:nvPr/>
        </p:nvPicPr>
        <p:blipFill>
          <a:blip r:embed="rId1">
            <a:lum bright="-6000"/>
          </a:blip>
          <a:stretch>
            <a:fillRect/>
          </a:stretch>
        </p:blipFill>
        <p:spPr>
          <a:xfrm rot="5400000">
            <a:off x="5880100" y="-184150"/>
            <a:ext cx="4998085" cy="7627620"/>
          </a:xfrm>
          <a:prstGeom prst="rect">
            <a:avLst/>
          </a:prstGeom>
        </p:spPr>
      </p:pic>
      <p:sp>
        <p:nvSpPr>
          <p:cNvPr id="7" name="任意多边形 6"/>
          <p:cNvSpPr/>
          <p:nvPr/>
        </p:nvSpPr>
        <p:spPr>
          <a:xfrm rot="5400000">
            <a:off x="4286885" y="-76200"/>
            <a:ext cx="6858000" cy="70110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13" h="11041">
                <a:moveTo>
                  <a:pt x="0" y="0"/>
                </a:moveTo>
                <a:lnTo>
                  <a:pt x="8013" y="0"/>
                </a:lnTo>
                <a:lnTo>
                  <a:pt x="8013" y="11041"/>
                </a:lnTo>
                <a:lnTo>
                  <a:pt x="0" y="11041"/>
                </a:lnTo>
                <a:lnTo>
                  <a:pt x="0" y="569"/>
                </a:lnTo>
                <a:lnTo>
                  <a:pt x="2686" y="569"/>
                </a:lnTo>
                <a:lnTo>
                  <a:pt x="2686" y="449"/>
                </a:lnTo>
                <a:lnTo>
                  <a:pt x="0" y="449"/>
                </a:lnTo>
                <a:lnTo>
                  <a:pt x="0" y="0"/>
                </a:lnTo>
                <a:close/>
              </a:path>
            </a:pathLst>
          </a:custGeom>
          <a:solidFill>
            <a:srgbClr val="812E31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0" y="3198495"/>
            <a:ext cx="2254250" cy="355409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2908" h="4586">
                <a:moveTo>
                  <a:pt x="0" y="84"/>
                </a:moveTo>
                <a:cubicBezTo>
                  <a:pt x="142" y="34"/>
                  <a:pt x="511" y="-9"/>
                  <a:pt x="615" y="0"/>
                </a:cubicBezTo>
                <a:cubicBezTo>
                  <a:pt x="1901" y="-39"/>
                  <a:pt x="2938" y="1138"/>
                  <a:pt x="2907" y="2292"/>
                </a:cubicBezTo>
                <a:cubicBezTo>
                  <a:pt x="2946" y="3578"/>
                  <a:pt x="1769" y="4615"/>
                  <a:pt x="615" y="4584"/>
                </a:cubicBezTo>
                <a:cubicBezTo>
                  <a:pt x="409" y="4594"/>
                  <a:pt x="61" y="4523"/>
                  <a:pt x="0" y="4500"/>
                </a:cubicBezTo>
                <a:lnTo>
                  <a:pt x="0" y="84"/>
                </a:lnTo>
                <a:close/>
              </a:path>
            </a:pathLst>
          </a:custGeom>
          <a:solidFill>
            <a:srgbClr val="812E3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312545" y="2752725"/>
            <a:ext cx="2480310" cy="2480310"/>
          </a:xfrm>
          <a:prstGeom prst="ellipse">
            <a:avLst/>
          </a:prstGeom>
          <a:solidFill>
            <a:srgbClr val="812E31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pic>
        <p:nvPicPr>
          <p:cNvPr id="11" name="图片 10" descr="4"/>
          <p:cNvPicPr>
            <a:picLocks noChangeAspect="1"/>
          </p:cNvPicPr>
          <p:nvPr/>
        </p:nvPicPr>
        <p:blipFill>
          <a:blip r:embed="rId2">
            <a:lum bright="-6000"/>
          </a:blip>
          <a:srcRect t="6780"/>
          <a:stretch>
            <a:fillRect/>
          </a:stretch>
        </p:blipFill>
        <p:spPr>
          <a:xfrm>
            <a:off x="947420" y="0"/>
            <a:ext cx="1694815" cy="298005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4971687" y="4737246"/>
            <a:ext cx="3227070" cy="660400"/>
          </a:xfrm>
          <a:prstGeom prst="rect">
            <a:avLst/>
          </a:prstGeom>
          <a:solidFill>
            <a:srgbClr val="EAEAEA">
              <a:alpha val="7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dirty="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第一部分</a:t>
            </a:r>
            <a:endParaRPr lang="zh-CN" altLang="en-US" sz="4400" dirty="0">
              <a:solidFill>
                <a:srgbClr val="812E3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19015" y="2889885"/>
            <a:ext cx="5337175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2000" dirty="0">
                <a:solidFill>
                  <a:srgbClr val="EAEAEA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关于国家强盛的支撑，有人看重科技硬实力，有人坚信文化软实力。下面，我们共同探讨科技与文化的关系，最终理解文化对国运的重要意义。</a:t>
            </a:r>
            <a:endParaRPr lang="zh-CN" altLang="en-US" sz="2000" dirty="0">
              <a:solidFill>
                <a:srgbClr val="EAEAEA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4925695" y="2654300"/>
            <a:ext cx="4928235" cy="0"/>
          </a:xfrm>
          <a:prstGeom prst="line">
            <a:avLst/>
          </a:prstGeom>
          <a:ln w="25400">
            <a:solidFill>
              <a:srgbClr val="EAEA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9" grpId="0" bldLvl="0" animBg="1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MH_Other_1"/>
          <p:cNvSpPr/>
          <p:nvPr>
            <p:custDataLst>
              <p:tags r:id="rId1"/>
            </p:custDataLst>
          </p:nvPr>
        </p:nvSpPr>
        <p:spPr>
          <a:xfrm>
            <a:off x="6357620" y="1567180"/>
            <a:ext cx="2070735" cy="2644140"/>
          </a:xfrm>
          <a:custGeom>
            <a:avLst/>
            <a:gdLst/>
            <a:ahLst/>
            <a:cxnLst/>
            <a:rect l="l" t="t" r="r" b="b"/>
            <a:pathLst>
              <a:path w="1697010" h="2148428">
                <a:moveTo>
                  <a:pt x="33935" y="0"/>
                </a:moveTo>
                <a:cubicBezTo>
                  <a:pt x="239955" y="34009"/>
                  <a:pt x="440246" y="107805"/>
                  <a:pt x="625209" y="218280"/>
                </a:cubicBezTo>
                <a:cubicBezTo>
                  <a:pt x="1149398" y="531372"/>
                  <a:pt x="1472579" y="1092545"/>
                  <a:pt x="1482056" y="1699788"/>
                </a:cubicBezTo>
                <a:lnTo>
                  <a:pt x="1697010" y="1699788"/>
                </a:lnTo>
                <a:lnTo>
                  <a:pt x="1143693" y="2148428"/>
                </a:lnTo>
                <a:lnTo>
                  <a:pt x="637828" y="1699788"/>
                </a:lnTo>
                <a:lnTo>
                  <a:pt x="867302" y="1699788"/>
                </a:lnTo>
                <a:cubicBezTo>
                  <a:pt x="859306" y="1308026"/>
                  <a:pt x="649377" y="946969"/>
                  <a:pt x="310771" y="744724"/>
                </a:cubicBezTo>
                <a:cubicBezTo>
                  <a:pt x="212707" y="686152"/>
                  <a:pt x="108032" y="643397"/>
                  <a:pt x="0" y="617910"/>
                </a:cubicBezTo>
                <a:lnTo>
                  <a:pt x="280602" y="302003"/>
                </a:lnTo>
                <a:close/>
              </a:path>
            </a:pathLst>
          </a:custGeom>
          <a:solidFill>
            <a:srgbClr val="812E3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b"/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48" name="MH_Other_2"/>
          <p:cNvSpPr/>
          <p:nvPr>
            <p:custDataLst>
              <p:tags r:id="rId2"/>
            </p:custDataLst>
          </p:nvPr>
        </p:nvSpPr>
        <p:spPr>
          <a:xfrm>
            <a:off x="3905250" y="1266190"/>
            <a:ext cx="2625090" cy="2089150"/>
          </a:xfrm>
          <a:custGeom>
            <a:avLst/>
            <a:gdLst/>
            <a:ahLst/>
            <a:cxnLst/>
            <a:rect l="l" t="t" r="r" b="b"/>
            <a:pathLst>
              <a:path w="2150110" h="1697787">
                <a:moveTo>
                  <a:pt x="1701470" y="0"/>
                </a:moveTo>
                <a:lnTo>
                  <a:pt x="2150110" y="553317"/>
                </a:lnTo>
                <a:lnTo>
                  <a:pt x="1701470" y="1059182"/>
                </a:lnTo>
                <a:lnTo>
                  <a:pt x="1701470" y="829708"/>
                </a:lnTo>
                <a:cubicBezTo>
                  <a:pt x="1309708" y="837704"/>
                  <a:pt x="948651" y="1047633"/>
                  <a:pt x="746406" y="1386239"/>
                </a:cubicBezTo>
                <a:cubicBezTo>
                  <a:pt x="687727" y="1484483"/>
                  <a:pt x="644923" y="1589361"/>
                  <a:pt x="620466" y="1697787"/>
                </a:cubicBezTo>
                <a:lnTo>
                  <a:pt x="303685" y="1416408"/>
                </a:lnTo>
                <a:lnTo>
                  <a:pt x="0" y="1664449"/>
                </a:lnTo>
                <a:cubicBezTo>
                  <a:pt x="35261" y="1458221"/>
                  <a:pt x="109165" y="1257301"/>
                  <a:pt x="219962" y="1071801"/>
                </a:cubicBezTo>
                <a:cubicBezTo>
                  <a:pt x="533054" y="547612"/>
                  <a:pt x="1094227" y="224431"/>
                  <a:pt x="1701470" y="214954"/>
                </a:cubicBezTo>
                <a:close/>
              </a:path>
            </a:pathLst>
          </a:custGeom>
          <a:solidFill>
            <a:srgbClr val="812E3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50" name="MH_Other_3"/>
          <p:cNvSpPr/>
          <p:nvPr>
            <p:custDataLst>
              <p:tags r:id="rId3"/>
            </p:custDataLst>
          </p:nvPr>
        </p:nvSpPr>
        <p:spPr>
          <a:xfrm>
            <a:off x="3610610" y="3181350"/>
            <a:ext cx="2070735" cy="2647950"/>
          </a:xfrm>
          <a:custGeom>
            <a:avLst/>
            <a:gdLst/>
            <a:ahLst/>
            <a:cxnLst/>
            <a:rect l="l" t="t" r="r" b="b"/>
            <a:pathLst>
              <a:path w="1697153" h="2150709">
                <a:moveTo>
                  <a:pt x="553317" y="0"/>
                </a:moveTo>
                <a:lnTo>
                  <a:pt x="1059182" y="448640"/>
                </a:lnTo>
                <a:lnTo>
                  <a:pt x="829708" y="448640"/>
                </a:lnTo>
                <a:cubicBezTo>
                  <a:pt x="837704" y="840402"/>
                  <a:pt x="1047633" y="1201459"/>
                  <a:pt x="1386239" y="1403704"/>
                </a:cubicBezTo>
                <a:cubicBezTo>
                  <a:pt x="1484322" y="1462287"/>
                  <a:pt x="1589018" y="1505047"/>
                  <a:pt x="1697153" y="1530355"/>
                </a:cubicBezTo>
                <a:lnTo>
                  <a:pt x="1416407" y="1846425"/>
                </a:lnTo>
                <a:lnTo>
                  <a:pt x="1664937" y="2150709"/>
                </a:lnTo>
                <a:cubicBezTo>
                  <a:pt x="1458510" y="2114956"/>
                  <a:pt x="1257435" y="2041026"/>
                  <a:pt x="1071801" y="1930149"/>
                </a:cubicBezTo>
                <a:cubicBezTo>
                  <a:pt x="547612" y="1617056"/>
                  <a:pt x="224431" y="1055883"/>
                  <a:pt x="214954" y="448640"/>
                </a:cubicBezTo>
                <a:lnTo>
                  <a:pt x="0" y="448640"/>
                </a:lnTo>
                <a:close/>
              </a:path>
            </a:pathLst>
          </a:custGeom>
          <a:solidFill>
            <a:srgbClr val="812E3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52" name="MH_Other_4"/>
          <p:cNvSpPr/>
          <p:nvPr>
            <p:custDataLst>
              <p:tags r:id="rId4"/>
            </p:custDataLst>
          </p:nvPr>
        </p:nvSpPr>
        <p:spPr>
          <a:xfrm>
            <a:off x="5509260" y="4037330"/>
            <a:ext cx="2623185" cy="2089150"/>
          </a:xfrm>
          <a:custGeom>
            <a:avLst/>
            <a:gdLst/>
            <a:ahLst/>
            <a:cxnLst/>
            <a:rect l="l" t="t" r="r" b="b"/>
            <a:pathLst>
              <a:path w="2150053" h="1697681">
                <a:moveTo>
                  <a:pt x="1529760" y="0"/>
                </a:moveTo>
                <a:lnTo>
                  <a:pt x="1846425" y="281275"/>
                </a:lnTo>
                <a:lnTo>
                  <a:pt x="2150053" y="33280"/>
                </a:lnTo>
                <a:cubicBezTo>
                  <a:pt x="2114837" y="239493"/>
                  <a:pt x="2040936" y="440395"/>
                  <a:pt x="1930148" y="625880"/>
                </a:cubicBezTo>
                <a:cubicBezTo>
                  <a:pt x="1617056" y="1150069"/>
                  <a:pt x="1055883" y="1473250"/>
                  <a:pt x="448640" y="1482727"/>
                </a:cubicBezTo>
                <a:lnTo>
                  <a:pt x="448640" y="1697681"/>
                </a:lnTo>
                <a:lnTo>
                  <a:pt x="0" y="1144364"/>
                </a:lnTo>
                <a:lnTo>
                  <a:pt x="448640" y="638499"/>
                </a:lnTo>
                <a:lnTo>
                  <a:pt x="448640" y="867973"/>
                </a:lnTo>
                <a:cubicBezTo>
                  <a:pt x="840402" y="859977"/>
                  <a:pt x="1201459" y="650048"/>
                  <a:pt x="1403704" y="311442"/>
                </a:cubicBezTo>
                <a:cubicBezTo>
                  <a:pt x="1462369" y="213222"/>
                  <a:pt x="1505166" y="108371"/>
                  <a:pt x="1529760" y="0"/>
                </a:cubicBezTo>
                <a:close/>
              </a:path>
            </a:pathLst>
          </a:custGeom>
          <a:solidFill>
            <a:srgbClr val="812E3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marL="137160" marR="0" lvl="0" indent="-137160" algn="l" defTabSz="914400" rtl="0" eaLnBrk="1" fontAlgn="base" latinLnBrk="0" hangingPunct="1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90855" y="447675"/>
            <a:ext cx="7831455" cy="681355"/>
            <a:chOff x="773" y="705"/>
            <a:chExt cx="12333" cy="1073"/>
          </a:xfrm>
        </p:grpSpPr>
        <p:sp>
          <p:nvSpPr>
            <p:cNvPr id="11" name="椭圆 10"/>
            <p:cNvSpPr/>
            <p:nvPr/>
          </p:nvSpPr>
          <p:spPr>
            <a:xfrm>
              <a:off x="773" y="767"/>
              <a:ext cx="1011" cy="1011"/>
            </a:xfrm>
            <a:prstGeom prst="ellipse">
              <a:avLst/>
            </a:prstGeom>
            <a:noFill/>
            <a:ln w="25400">
              <a:solidFill>
                <a:srgbClr val="812E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壹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801" y="705"/>
              <a:ext cx="11305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科技兴则民族兴，科技强则国家强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855" y="1193165"/>
            <a:ext cx="9494520" cy="558546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2140" y="967740"/>
            <a:ext cx="9511030" cy="57340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290" y="1093470"/>
            <a:ext cx="8838565" cy="551243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4230" y="1193165"/>
            <a:ext cx="9434830" cy="5276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组合 184"/>
          <p:cNvGrpSpPr/>
          <p:nvPr>
            <p:custDataLst>
              <p:tags r:id="rId1"/>
            </p:custDataLst>
          </p:nvPr>
        </p:nvGrpSpPr>
        <p:grpSpPr>
          <a:xfrm>
            <a:off x="798195" y="1732915"/>
            <a:ext cx="10792460" cy="1838960"/>
            <a:chOff x="5157515" y="1783440"/>
            <a:chExt cx="3384376" cy="1881595"/>
          </a:xfrm>
        </p:grpSpPr>
        <p:sp>
          <p:nvSpPr>
            <p:cNvPr id="186" name="矩形标注 185"/>
            <p:cNvSpPr/>
            <p:nvPr>
              <p:custDataLst>
                <p:tags r:id="rId2"/>
              </p:custDataLst>
            </p:nvPr>
          </p:nvSpPr>
          <p:spPr>
            <a:xfrm>
              <a:off x="5157515" y="1784090"/>
              <a:ext cx="3384376" cy="1775690"/>
            </a:xfrm>
            <a:prstGeom prst="wedgeRectCallout">
              <a:avLst/>
            </a:prstGeom>
            <a:solidFill>
              <a:srgbClr val="812E3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  <p:sp>
          <p:nvSpPr>
            <p:cNvPr id="188" name="TextBox 187"/>
            <p:cNvSpPr txBox="1"/>
            <p:nvPr>
              <p:custDataLst>
                <p:tags r:id="rId3"/>
              </p:custDataLst>
            </p:nvPr>
          </p:nvSpPr>
          <p:spPr>
            <a:xfrm>
              <a:off x="5243140" y="1783440"/>
              <a:ext cx="2990899" cy="1881595"/>
            </a:xfrm>
            <a:prstGeom prst="rect">
              <a:avLst/>
            </a:prstGeom>
            <a:noFill/>
          </p:spPr>
          <p:txBody>
            <a:bodyPr wrap="square" t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传统文化传承：中华优秀传统文化持续焕发活力，非遗技艺、古典诗词走进大众生活。深厚文化根脉凝聚民族精神，为国家发展筑牢精神根基，印证文化兴盛助推国运发展。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  <p:grpSp>
        <p:nvGrpSpPr>
          <p:cNvPr id="190" name="组合 189"/>
          <p:cNvGrpSpPr/>
          <p:nvPr>
            <p:custDataLst>
              <p:tags r:id="rId4"/>
            </p:custDataLst>
          </p:nvPr>
        </p:nvGrpSpPr>
        <p:grpSpPr>
          <a:xfrm>
            <a:off x="725170" y="3999230"/>
            <a:ext cx="10793730" cy="1790700"/>
            <a:chOff x="678722" y="4101582"/>
            <a:chExt cx="11046011" cy="1832216"/>
          </a:xfrm>
        </p:grpSpPr>
        <p:sp>
          <p:nvSpPr>
            <p:cNvPr id="191" name="矩形标注 190"/>
            <p:cNvSpPr/>
            <p:nvPr>
              <p:custDataLst>
                <p:tags r:id="rId5"/>
              </p:custDataLst>
            </p:nvPr>
          </p:nvSpPr>
          <p:spPr>
            <a:xfrm>
              <a:off x="678722" y="4101582"/>
              <a:ext cx="11046011" cy="1775690"/>
            </a:xfrm>
            <a:prstGeom prst="wedgeRectCallout">
              <a:avLst/>
            </a:prstGeom>
            <a:solidFill>
              <a:srgbClr val="812E3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  <p:sp>
          <p:nvSpPr>
            <p:cNvPr id="193" name="TextBox 192"/>
            <p:cNvSpPr txBox="1"/>
            <p:nvPr>
              <p:custDataLst>
                <p:tags r:id="rId6"/>
              </p:custDataLst>
            </p:nvPr>
          </p:nvSpPr>
          <p:spPr>
            <a:xfrm>
              <a:off x="1032886" y="4102232"/>
              <a:ext cx="9997166" cy="1831566"/>
            </a:xfrm>
            <a:prstGeom prst="rect">
              <a:avLst/>
            </a:prstGeom>
            <a:noFill/>
          </p:spPr>
          <p:txBody>
            <a:bodyPr wrap="square" t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新时代文化发展：国产影视、国风文创走出国门，讲好中国故事。繁荣的文化产业展现民族自信，增强国家软实力，成为民族走向强盛的重要力量。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90855" y="447675"/>
            <a:ext cx="10757535" cy="681355"/>
            <a:chOff x="773" y="705"/>
            <a:chExt cx="16941" cy="1073"/>
          </a:xfrm>
        </p:grpSpPr>
        <p:sp>
          <p:nvSpPr>
            <p:cNvPr id="11" name="椭圆 10"/>
            <p:cNvSpPr/>
            <p:nvPr/>
          </p:nvSpPr>
          <p:spPr>
            <a:xfrm>
              <a:off x="773" y="767"/>
              <a:ext cx="1011" cy="1011"/>
            </a:xfrm>
            <a:prstGeom prst="ellipse">
              <a:avLst/>
            </a:prstGeom>
            <a:noFill/>
            <a:ln w="25400">
              <a:solidFill>
                <a:srgbClr val="812E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壹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801" y="705"/>
              <a:ext cx="15913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文化兴则国运兴，文化强则民族强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3"/>
          <p:cNvPicPr>
            <a:picLocks noChangeAspect="1"/>
          </p:cNvPicPr>
          <p:nvPr/>
        </p:nvPicPr>
        <p:blipFill>
          <a:blip r:embed="rId1">
            <a:lum bright="-6000"/>
          </a:blip>
          <a:stretch>
            <a:fillRect/>
          </a:stretch>
        </p:blipFill>
        <p:spPr>
          <a:xfrm rot="5400000">
            <a:off x="5880100" y="-184150"/>
            <a:ext cx="4998085" cy="7627620"/>
          </a:xfrm>
          <a:prstGeom prst="rect">
            <a:avLst/>
          </a:prstGeom>
        </p:spPr>
      </p:pic>
      <p:sp>
        <p:nvSpPr>
          <p:cNvPr id="7" name="任意多边形 6"/>
          <p:cNvSpPr/>
          <p:nvPr/>
        </p:nvSpPr>
        <p:spPr>
          <a:xfrm rot="5400000">
            <a:off x="4286885" y="-76200"/>
            <a:ext cx="6858000" cy="70110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13" h="11041">
                <a:moveTo>
                  <a:pt x="0" y="0"/>
                </a:moveTo>
                <a:lnTo>
                  <a:pt x="8013" y="0"/>
                </a:lnTo>
                <a:lnTo>
                  <a:pt x="8013" y="11041"/>
                </a:lnTo>
                <a:lnTo>
                  <a:pt x="0" y="11041"/>
                </a:lnTo>
                <a:lnTo>
                  <a:pt x="0" y="569"/>
                </a:lnTo>
                <a:lnTo>
                  <a:pt x="2686" y="569"/>
                </a:lnTo>
                <a:lnTo>
                  <a:pt x="2686" y="449"/>
                </a:lnTo>
                <a:lnTo>
                  <a:pt x="0" y="449"/>
                </a:lnTo>
                <a:lnTo>
                  <a:pt x="0" y="0"/>
                </a:lnTo>
                <a:close/>
              </a:path>
            </a:pathLst>
          </a:custGeom>
          <a:solidFill>
            <a:srgbClr val="812E31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0" y="3198495"/>
            <a:ext cx="2254250" cy="355409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2908" h="4586">
                <a:moveTo>
                  <a:pt x="0" y="84"/>
                </a:moveTo>
                <a:cubicBezTo>
                  <a:pt x="142" y="34"/>
                  <a:pt x="511" y="-9"/>
                  <a:pt x="615" y="0"/>
                </a:cubicBezTo>
                <a:cubicBezTo>
                  <a:pt x="1901" y="-39"/>
                  <a:pt x="2938" y="1138"/>
                  <a:pt x="2907" y="2292"/>
                </a:cubicBezTo>
                <a:cubicBezTo>
                  <a:pt x="2946" y="3578"/>
                  <a:pt x="1769" y="4615"/>
                  <a:pt x="615" y="4584"/>
                </a:cubicBezTo>
                <a:cubicBezTo>
                  <a:pt x="409" y="4594"/>
                  <a:pt x="61" y="4523"/>
                  <a:pt x="0" y="4500"/>
                </a:cubicBezTo>
                <a:lnTo>
                  <a:pt x="0" y="84"/>
                </a:lnTo>
                <a:close/>
              </a:path>
            </a:pathLst>
          </a:custGeom>
          <a:solidFill>
            <a:srgbClr val="812E3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312545" y="2752725"/>
            <a:ext cx="2480310" cy="2480310"/>
          </a:xfrm>
          <a:prstGeom prst="ellipse">
            <a:avLst/>
          </a:prstGeom>
          <a:solidFill>
            <a:srgbClr val="812E31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pic>
        <p:nvPicPr>
          <p:cNvPr id="11" name="图片 10" descr="4"/>
          <p:cNvPicPr>
            <a:picLocks noChangeAspect="1"/>
          </p:cNvPicPr>
          <p:nvPr/>
        </p:nvPicPr>
        <p:blipFill>
          <a:blip r:embed="rId2">
            <a:lum bright="-6000"/>
          </a:blip>
          <a:srcRect t="6780"/>
          <a:stretch>
            <a:fillRect/>
          </a:stretch>
        </p:blipFill>
        <p:spPr>
          <a:xfrm>
            <a:off x="947420" y="0"/>
            <a:ext cx="1694815" cy="298005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4939030" y="4645660"/>
            <a:ext cx="3227070" cy="660400"/>
          </a:xfrm>
          <a:prstGeom prst="rect">
            <a:avLst/>
          </a:prstGeom>
          <a:solidFill>
            <a:srgbClr val="EAEAEA">
              <a:alpha val="7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第二部分</a:t>
            </a:r>
            <a:endParaRPr lang="zh-CN" altLang="en-US" sz="4400">
              <a:solidFill>
                <a:srgbClr val="812E3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19015" y="2889885"/>
            <a:ext cx="5337175" cy="10793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2400" dirty="0">
                <a:solidFill>
                  <a:srgbClr val="EAEAEA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文化是无形防线，守护国家话语权，筑牢国家安全的精神屏障。</a:t>
            </a:r>
            <a:endParaRPr lang="zh-CN" altLang="en-US" sz="2400" dirty="0">
              <a:solidFill>
                <a:srgbClr val="EAEAEA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19015" y="1163320"/>
            <a:ext cx="5337810" cy="1691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文化兴，捍卫国家主权安全</a:t>
            </a:r>
            <a:endParaRPr lang="zh-CN" altLang="en-US" sz="400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4925695" y="2654300"/>
            <a:ext cx="4928235" cy="0"/>
          </a:xfrm>
          <a:prstGeom prst="line">
            <a:avLst/>
          </a:prstGeom>
          <a:ln w="25400">
            <a:solidFill>
              <a:srgbClr val="EAEA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9" grpId="0" bldLvl="0" animBg="1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245995" y="1473835"/>
            <a:ext cx="5012690" cy="2285365"/>
            <a:chOff x="3526" y="2343"/>
            <a:chExt cx="7894" cy="3599"/>
          </a:xfrm>
        </p:grpSpPr>
        <p:grpSp>
          <p:nvGrpSpPr>
            <p:cNvPr id="2" name="组合 1"/>
            <p:cNvGrpSpPr/>
            <p:nvPr/>
          </p:nvGrpSpPr>
          <p:grpSpPr>
            <a:xfrm>
              <a:off x="3526" y="2808"/>
              <a:ext cx="7212" cy="3134"/>
              <a:chOff x="3526" y="2808"/>
              <a:chExt cx="7212" cy="3134"/>
            </a:xfrm>
          </p:grpSpPr>
          <p:sp>
            <p:nvSpPr>
              <p:cNvPr id="7" name="AutoShape 8"/>
              <p:cNvSpPr>
                <a:spLocks noChangeArrowheads="1"/>
              </p:cNvSpPr>
              <p:nvPr>
                <p:custDataLst>
                  <p:tags r:id="rId2"/>
                </p:custDataLst>
              </p:nvPr>
            </p:nvSpPr>
            <p:spPr bwMode="auto">
              <a:xfrm rot="19559018">
                <a:off x="9788" y="2808"/>
                <a:ext cx="772" cy="1080"/>
              </a:xfrm>
              <a:prstGeom prst="chevron">
                <a:avLst>
                  <a:gd name="adj" fmla="val 55472"/>
                </a:avLst>
              </a:prstGeom>
              <a:solidFill>
                <a:srgbClr val="812E31"/>
              </a:solidFill>
              <a:ln w="31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bIns="0" anchor="ctr"/>
              <a:lstStyle/>
              <a:p>
                <a:pPr algn="ctr">
                  <a:lnSpc>
                    <a:spcPct val="120000"/>
                  </a:lnSpc>
                  <a:defRPr/>
                </a:pPr>
                <a:endParaRPr lang="zh-CN" altLang="en-US" sz="1500" dirty="0">
                  <a:solidFill>
                    <a:schemeClr val="accent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endParaRPr>
              </a:p>
            </p:txBody>
          </p:sp>
          <p:sp>
            <p:nvSpPr>
              <p:cNvPr id="44" name="KSO_GT1"/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 rot="19559018">
                <a:off x="3526" y="4860"/>
                <a:ext cx="7213" cy="1082"/>
              </a:xfrm>
              <a:custGeom>
                <a:avLst/>
                <a:gdLst>
                  <a:gd name="connsiteX0" fmla="*/ 4424394 w 4699396"/>
                  <a:gd name="connsiteY0" fmla="*/ 0 h 686990"/>
                  <a:gd name="connsiteX1" fmla="*/ 4699396 w 4699396"/>
                  <a:gd name="connsiteY1" fmla="*/ 343495 h 686990"/>
                  <a:gd name="connsiteX2" fmla="*/ 4424394 w 4699396"/>
                  <a:gd name="connsiteY2" fmla="*/ 686990 h 686990"/>
                  <a:gd name="connsiteX3" fmla="*/ 1011970 w 4699396"/>
                  <a:gd name="connsiteY3" fmla="*/ 686990 h 686990"/>
                  <a:gd name="connsiteX4" fmla="*/ 0 w 4699396"/>
                  <a:gd name="connsiteY4" fmla="*/ 3987 h 686990"/>
                  <a:gd name="connsiteX5" fmla="*/ 0 w 4699396"/>
                  <a:gd name="connsiteY5" fmla="*/ 0 h 686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699396" h="686990">
                    <a:moveTo>
                      <a:pt x="4424394" y="0"/>
                    </a:moveTo>
                    <a:lnTo>
                      <a:pt x="4699396" y="343495"/>
                    </a:lnTo>
                    <a:lnTo>
                      <a:pt x="4424394" y="686990"/>
                    </a:lnTo>
                    <a:lnTo>
                      <a:pt x="1011970" y="686990"/>
                    </a:lnTo>
                    <a:lnTo>
                      <a:pt x="0" y="39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12E31">
                  <a:alpha val="97000"/>
                </a:srgbClr>
              </a:solidFill>
              <a:ln w="9525">
                <a:noFill/>
                <a:miter lim="800000"/>
              </a:ln>
              <a:effectLst/>
            </p:spPr>
            <p:txBody>
              <a:bodyPr lIns="648000" tIns="0" bIns="0" anchor="ctr"/>
              <a:lstStyle/>
              <a:p>
                <a:pPr>
                  <a:defRPr/>
                </a:pPr>
                <a:r>
                  <a:rPr lang="zh-CN" altLang="en-US" sz="5400" dirty="0">
                    <a:solidFill>
                      <a:schemeClr val="bg1"/>
                    </a:solidFill>
                    <a:latin typeface="Arial" panose="020B0604020202020204"/>
                    <a:ea typeface="华文新魏" panose="02010800040101010101" charset="-122"/>
                    <a:cs typeface="字魂45号-冰宇雅宋" panose="00000500000000000000" charset="-122"/>
                    <a:sym typeface="Arial" panose="020B0604020202020204"/>
                  </a:rPr>
                  <a:t>琉球学</a:t>
                </a:r>
                <a:endParaRPr lang="zh-CN" altLang="en-US" sz="5400" dirty="0">
                  <a:solidFill>
                    <a:schemeClr val="bg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endParaRPr>
              </a:p>
            </p:txBody>
          </p:sp>
        </p:grpSp>
        <p:sp>
          <p:nvSpPr>
            <p:cNvPr id="25" name="同心圆 24"/>
            <p:cNvSpPr/>
            <p:nvPr/>
          </p:nvSpPr>
          <p:spPr bwMode="auto">
            <a:xfrm rot="19559018">
              <a:off x="10408" y="2343"/>
              <a:ext cx="1012" cy="1012"/>
            </a:xfrm>
            <a:prstGeom prst="donut">
              <a:avLst>
                <a:gd name="adj" fmla="val 13058"/>
              </a:avLst>
            </a:prstGeom>
            <a:solidFill>
              <a:srgbClr val="812E3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0" bIns="0" anchor="ctr"/>
            <a:lstStyle/>
            <a:p>
              <a:pPr algn="ctr">
                <a:defRPr/>
              </a:pPr>
              <a:r>
                <a:rPr lang="en-US" altLang="zh-CN" sz="1350" b="1" kern="1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1</a:t>
              </a:r>
              <a:endParaRPr lang="en-US" altLang="zh-CN" sz="1350" b="1" kern="1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4881245" y="1664335"/>
            <a:ext cx="4707890" cy="2179955"/>
            <a:chOff x="7676" y="2643"/>
            <a:chExt cx="7414" cy="3433"/>
          </a:xfrm>
        </p:grpSpPr>
        <p:grpSp>
          <p:nvGrpSpPr>
            <p:cNvPr id="3" name="组合 2"/>
            <p:cNvGrpSpPr/>
            <p:nvPr/>
          </p:nvGrpSpPr>
          <p:grpSpPr>
            <a:xfrm>
              <a:off x="7676" y="3108"/>
              <a:ext cx="6726" cy="2969"/>
              <a:chOff x="7676" y="3108"/>
              <a:chExt cx="6726" cy="2969"/>
            </a:xfrm>
          </p:grpSpPr>
          <p:sp>
            <p:nvSpPr>
              <p:cNvPr id="30" name="AutoShape 8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 rot="19559018">
                <a:off x="13458" y="3108"/>
                <a:ext cx="772" cy="1080"/>
              </a:xfrm>
              <a:prstGeom prst="chevron">
                <a:avLst>
                  <a:gd name="adj" fmla="val 55472"/>
                </a:avLst>
              </a:prstGeom>
              <a:solidFill>
                <a:srgbClr val="812E31"/>
              </a:solidFill>
              <a:ln w="3175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bIns="0" anchor="ctr"/>
              <a:lstStyle/>
              <a:p>
                <a:pPr algn="ctr">
                  <a:lnSpc>
                    <a:spcPct val="120000"/>
                  </a:lnSpc>
                  <a:defRPr/>
                </a:pPr>
                <a:endParaRPr lang="zh-CN" altLang="en-US" sz="1500" dirty="0">
                  <a:solidFill>
                    <a:schemeClr val="accent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endParaRPr>
              </a:p>
            </p:txBody>
          </p:sp>
          <p:sp>
            <p:nvSpPr>
              <p:cNvPr id="41" name="任意多边形 40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 rot="19559018">
                <a:off x="7676" y="4995"/>
                <a:ext cx="6727" cy="1083"/>
              </a:xfrm>
              <a:custGeom>
                <a:avLst/>
                <a:gdLst>
                  <a:gd name="connsiteX0" fmla="*/ 4089775 w 4364777"/>
                  <a:gd name="connsiteY0" fmla="*/ 0 h 686990"/>
                  <a:gd name="connsiteX1" fmla="*/ 4364777 w 4364777"/>
                  <a:gd name="connsiteY1" fmla="*/ 343495 h 686990"/>
                  <a:gd name="connsiteX2" fmla="*/ 4089775 w 4364777"/>
                  <a:gd name="connsiteY2" fmla="*/ 686990 h 686990"/>
                  <a:gd name="connsiteX3" fmla="*/ 1017877 w 4364777"/>
                  <a:gd name="connsiteY3" fmla="*/ 686990 h 686990"/>
                  <a:gd name="connsiteX4" fmla="*/ 0 w 4364777"/>
                  <a:gd name="connsiteY4" fmla="*/ 0 h 686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4777" h="686990">
                    <a:moveTo>
                      <a:pt x="4089775" y="0"/>
                    </a:moveTo>
                    <a:lnTo>
                      <a:pt x="4364777" y="343495"/>
                    </a:lnTo>
                    <a:lnTo>
                      <a:pt x="4089775" y="686990"/>
                    </a:lnTo>
                    <a:lnTo>
                      <a:pt x="1017877" y="6869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12E31"/>
              </a:solidFill>
              <a:ln w="9525">
                <a:noFill/>
                <a:miter lim="800000"/>
              </a:ln>
              <a:effectLst/>
            </p:spPr>
            <p:txBody>
              <a:bodyPr lIns="684000" tIns="0" bIns="0" anchor="ctr"/>
              <a:lstStyle/>
              <a:p>
                <a:pPr algn="l">
                  <a:defRPr/>
                </a:pPr>
                <a:r>
                  <a:rPr lang="zh-CN" altLang="en-US" sz="3600" dirty="0">
                    <a:solidFill>
                      <a:schemeClr val="bg1"/>
                    </a:solidFill>
                    <a:latin typeface="Arial" panose="020B0604020202020204"/>
                    <a:ea typeface="华文新魏" panose="02010800040101010101" charset="-122"/>
                    <a:cs typeface="字魂45号-冰宇雅宋" panose="00000500000000000000" charset="-122"/>
                    <a:sym typeface="Arial" panose="020B0604020202020204"/>
                  </a:rPr>
                  <a:t>黑水城西夏文化</a:t>
                </a:r>
                <a:endParaRPr lang="zh-CN" altLang="en-US" sz="3600" dirty="0">
                  <a:solidFill>
                    <a:schemeClr val="bg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endParaRPr>
              </a:p>
            </p:txBody>
          </p:sp>
        </p:grpSp>
        <p:sp>
          <p:nvSpPr>
            <p:cNvPr id="29" name="同心圆 28"/>
            <p:cNvSpPr/>
            <p:nvPr/>
          </p:nvSpPr>
          <p:spPr bwMode="auto">
            <a:xfrm rot="19559018">
              <a:off x="14078" y="2643"/>
              <a:ext cx="1012" cy="1012"/>
            </a:xfrm>
            <a:prstGeom prst="donut">
              <a:avLst>
                <a:gd name="adj" fmla="val 13058"/>
              </a:avLst>
            </a:prstGeom>
            <a:solidFill>
              <a:srgbClr val="812E3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0" bIns="0" anchor="ctr"/>
            <a:lstStyle/>
            <a:p>
              <a:pPr algn="ctr">
                <a:defRPr/>
              </a:pPr>
              <a:r>
                <a:rPr lang="en-US" altLang="zh-CN" sz="1350" b="1" kern="1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2</a:t>
              </a:r>
              <a:endParaRPr lang="en-US" altLang="zh-CN" sz="1350" b="1" kern="1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  <p:sp>
        <p:nvSpPr>
          <p:cNvPr id="50" name="矩形 49"/>
          <p:cNvSpPr/>
          <p:nvPr/>
        </p:nvSpPr>
        <p:spPr bwMode="auto">
          <a:xfrm>
            <a:off x="2038350" y="4429125"/>
            <a:ext cx="7831138" cy="46038"/>
          </a:xfrm>
          <a:prstGeom prst="rect">
            <a:avLst/>
          </a:prstGeom>
          <a:solidFill>
            <a:srgbClr val="812E3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/>
          <a:p>
            <a:pPr algn="ctr">
              <a:defRPr/>
            </a:pPr>
            <a:endParaRPr lang="zh-CN" altLang="en-US" sz="1350" b="1" kern="10" dirty="0">
              <a:solidFill>
                <a:schemeClr val="accent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90855" y="447675"/>
            <a:ext cx="3639820" cy="681355"/>
            <a:chOff x="773" y="705"/>
            <a:chExt cx="5732" cy="1073"/>
          </a:xfrm>
        </p:grpSpPr>
        <p:sp>
          <p:nvSpPr>
            <p:cNvPr id="11" name="椭圆 10"/>
            <p:cNvSpPr/>
            <p:nvPr/>
          </p:nvSpPr>
          <p:spPr>
            <a:xfrm>
              <a:off x="773" y="767"/>
              <a:ext cx="1011" cy="1011"/>
            </a:xfrm>
            <a:prstGeom prst="ellipse">
              <a:avLst/>
            </a:prstGeom>
            <a:noFill/>
            <a:ln w="25400">
              <a:solidFill>
                <a:srgbClr val="812E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贰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801" y="705"/>
              <a:ext cx="4704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文化边关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20" y="214630"/>
            <a:ext cx="4900930" cy="61436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1605" y="120650"/>
            <a:ext cx="4575810" cy="6589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同心圆 47"/>
          <p:cNvSpPr/>
          <p:nvPr/>
        </p:nvSpPr>
        <p:spPr>
          <a:xfrm>
            <a:off x="5955030" y="1066165"/>
            <a:ext cx="2498090" cy="2486660"/>
          </a:xfrm>
          <a:prstGeom prst="donut">
            <a:avLst>
              <a:gd name="adj" fmla="val 21317"/>
            </a:avLst>
          </a:prstGeom>
          <a:solidFill>
            <a:srgbClr val="812E31"/>
          </a:solidFill>
          <a:ln w="0">
            <a:solidFill>
              <a:srgbClr val="EAEA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000" kern="0" dirty="0">
                <a:ln w="18415" cmpd="sng">
                  <a:noFill/>
                  <a:prstDash val="solid"/>
                </a:ln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守护民族文化根脉底色</a:t>
            </a:r>
            <a:endParaRPr lang="zh-CN" altLang="en-US" sz="2000" kern="0" dirty="0">
              <a:ln w="18415" cmpd="sng">
                <a:noFill/>
                <a:prstDash val="solid"/>
              </a:ln>
              <a:solidFill>
                <a:schemeClr val="tx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52" name="同心圆 51"/>
          <p:cNvSpPr/>
          <p:nvPr/>
        </p:nvSpPr>
        <p:spPr>
          <a:xfrm>
            <a:off x="4971415" y="2943225"/>
            <a:ext cx="2405380" cy="2322830"/>
          </a:xfrm>
          <a:prstGeom prst="donut">
            <a:avLst>
              <a:gd name="adj" fmla="val 21317"/>
            </a:avLst>
          </a:prstGeom>
          <a:solidFill>
            <a:srgbClr val="812E31"/>
          </a:solidFill>
          <a:ln w="0">
            <a:solidFill>
              <a:srgbClr val="EAEA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000" kern="0" dirty="0">
                <a:ln w="18415" cmpd="sng">
                  <a:noFill/>
                  <a:prstDash val="solid"/>
                </a:ln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提升国家文化主权与自信</a:t>
            </a:r>
            <a:endParaRPr lang="zh-CN" altLang="en-US" sz="2000" kern="0" dirty="0">
              <a:ln w="18415" cmpd="sng">
                <a:noFill/>
                <a:prstDash val="solid"/>
              </a:ln>
              <a:solidFill>
                <a:schemeClr val="tx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3083" name="KSO_GT2.1"/>
          <p:cNvSpPr txBox="1">
            <a:spLocks noChangeArrowheads="1"/>
          </p:cNvSpPr>
          <p:nvPr/>
        </p:nvSpPr>
        <p:spPr bwMode="auto">
          <a:xfrm flipH="1">
            <a:off x="8629015" y="1415415"/>
            <a:ext cx="2993390" cy="1648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 anchor="ctr"/>
          <a:lstStyle/>
          <a:p>
            <a:pPr algn="just">
              <a:lnSpc>
                <a:spcPct val="130000"/>
              </a:lnSpc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守住中华优秀传统文化、革命文化与先进文化内核，防止文化消解异化，延续民族精神血脉。</a:t>
            </a:r>
            <a:endParaRPr lang="zh-CN" altLang="en-US" sz="2400" kern="0" dirty="0">
              <a:solidFill>
                <a:schemeClr val="tx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5" name="KSO_GT1.1"/>
          <p:cNvSpPr txBox="1"/>
          <p:nvPr/>
        </p:nvSpPr>
        <p:spPr>
          <a:xfrm flipH="1">
            <a:off x="913765" y="1481455"/>
            <a:ext cx="2805430" cy="1581785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r">
              <a:lnSpc>
                <a:spcPct val="130000"/>
              </a:lnSpc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抵御错误社会思潮、不良外来文化渗透，守护主流价值阵地。</a:t>
            </a:r>
            <a:endParaRPr lang="zh-CN" altLang="en-US" sz="2400" kern="0" dirty="0">
              <a:solidFill>
                <a:schemeClr val="tx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6" name="KSO_GT3.1"/>
          <p:cNvSpPr txBox="1"/>
          <p:nvPr/>
        </p:nvSpPr>
        <p:spPr>
          <a:xfrm flipH="1">
            <a:off x="3858260" y="5191125"/>
            <a:ext cx="5237480" cy="1151255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400" kern="0" dirty="0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掌握文化发展主动权，增强文化软实力与国际话语权，支撑民族长久稳定繁荣发展。</a:t>
            </a:r>
            <a:endParaRPr lang="zh-CN" altLang="en-US" sz="2400" kern="0" dirty="0">
              <a:solidFill>
                <a:schemeClr val="tx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  <a:p>
            <a:pPr algn="ctr">
              <a:lnSpc>
                <a:spcPct val="130000"/>
              </a:lnSpc>
              <a:defRPr/>
            </a:pPr>
            <a:endParaRPr lang="zh-CN" altLang="en-US" sz="2000" kern="0" dirty="0">
              <a:solidFill>
                <a:schemeClr val="tx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61035" y="483870"/>
            <a:ext cx="9203690" cy="811530"/>
            <a:chOff x="773" y="705"/>
            <a:chExt cx="14494" cy="1278"/>
          </a:xfrm>
        </p:grpSpPr>
        <p:sp>
          <p:nvSpPr>
            <p:cNvPr id="11" name="椭圆 10"/>
            <p:cNvSpPr/>
            <p:nvPr/>
          </p:nvSpPr>
          <p:spPr>
            <a:xfrm>
              <a:off x="773" y="767"/>
              <a:ext cx="1011" cy="1011"/>
            </a:xfrm>
            <a:prstGeom prst="ellipse">
              <a:avLst/>
            </a:prstGeom>
            <a:noFill/>
            <a:ln w="25400">
              <a:solidFill>
                <a:srgbClr val="812E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贰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40" y="705"/>
              <a:ext cx="13327" cy="127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文化边关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</p:grpSp>
      <p:sp>
        <p:nvSpPr>
          <p:cNvPr id="3" name="同心圆 2"/>
          <p:cNvSpPr/>
          <p:nvPr/>
        </p:nvSpPr>
        <p:spPr>
          <a:xfrm>
            <a:off x="3794760" y="1066165"/>
            <a:ext cx="2432685" cy="2442210"/>
          </a:xfrm>
          <a:prstGeom prst="donut">
            <a:avLst>
              <a:gd name="adj" fmla="val 21317"/>
            </a:avLst>
          </a:prstGeom>
          <a:solidFill>
            <a:srgbClr val="812E31"/>
          </a:solidFill>
          <a:ln w="0">
            <a:solidFill>
              <a:srgbClr val="EAEA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30000"/>
              </a:lnSpc>
              <a:defRPr/>
            </a:pPr>
            <a:r>
              <a:rPr lang="zh-CN" altLang="en-US" sz="2000" kern="0" dirty="0">
                <a:ln w="18415" cmpd="sng">
                  <a:noFill/>
                  <a:prstDash val="solid"/>
                </a:ln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筑牢意识形态安全防线</a:t>
            </a:r>
            <a:endParaRPr lang="zh-CN" altLang="en-US" sz="2000" kern="0" dirty="0">
              <a:ln w="18415" cmpd="sng">
                <a:noFill/>
                <a:prstDash val="solid"/>
              </a:ln>
              <a:solidFill>
                <a:schemeClr val="tx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1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1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8" grpId="1" bldLvl="0" animBg="1"/>
      <p:bldP spid="52" grpId="0" animBg="1"/>
      <p:bldP spid="52" grpId="1" bldLvl="0" animBg="1"/>
      <p:bldP spid="3083" grpId="0"/>
      <p:bldP spid="25" grpId="0"/>
      <p:bldP spid="26" grpId="0"/>
      <p:bldP spid="3" grpId="0" animBg="1"/>
      <p:bldP spid="3" grpId="1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3"/>
          <p:cNvPicPr>
            <a:picLocks noChangeAspect="1"/>
          </p:cNvPicPr>
          <p:nvPr/>
        </p:nvPicPr>
        <p:blipFill>
          <a:blip r:embed="rId1">
            <a:lum bright="-6000"/>
          </a:blip>
          <a:stretch>
            <a:fillRect/>
          </a:stretch>
        </p:blipFill>
        <p:spPr>
          <a:xfrm rot="5400000">
            <a:off x="5880100" y="-184150"/>
            <a:ext cx="4998085" cy="7627620"/>
          </a:xfrm>
          <a:prstGeom prst="rect">
            <a:avLst/>
          </a:prstGeom>
        </p:spPr>
      </p:pic>
      <p:sp>
        <p:nvSpPr>
          <p:cNvPr id="7" name="任意多边形 6"/>
          <p:cNvSpPr/>
          <p:nvPr/>
        </p:nvSpPr>
        <p:spPr>
          <a:xfrm rot="5400000">
            <a:off x="4286885" y="-76200"/>
            <a:ext cx="6858000" cy="70110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13" h="11041">
                <a:moveTo>
                  <a:pt x="0" y="0"/>
                </a:moveTo>
                <a:lnTo>
                  <a:pt x="8013" y="0"/>
                </a:lnTo>
                <a:lnTo>
                  <a:pt x="8013" y="11041"/>
                </a:lnTo>
                <a:lnTo>
                  <a:pt x="0" y="11041"/>
                </a:lnTo>
                <a:lnTo>
                  <a:pt x="0" y="569"/>
                </a:lnTo>
                <a:lnTo>
                  <a:pt x="2686" y="569"/>
                </a:lnTo>
                <a:lnTo>
                  <a:pt x="2686" y="449"/>
                </a:lnTo>
                <a:lnTo>
                  <a:pt x="0" y="449"/>
                </a:lnTo>
                <a:lnTo>
                  <a:pt x="0" y="0"/>
                </a:lnTo>
                <a:close/>
              </a:path>
            </a:pathLst>
          </a:custGeom>
          <a:solidFill>
            <a:srgbClr val="812E31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0" y="3198495"/>
            <a:ext cx="2254250" cy="355409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2908" h="4586">
                <a:moveTo>
                  <a:pt x="0" y="84"/>
                </a:moveTo>
                <a:cubicBezTo>
                  <a:pt x="142" y="34"/>
                  <a:pt x="511" y="-9"/>
                  <a:pt x="615" y="0"/>
                </a:cubicBezTo>
                <a:cubicBezTo>
                  <a:pt x="1901" y="-39"/>
                  <a:pt x="2938" y="1138"/>
                  <a:pt x="2907" y="2292"/>
                </a:cubicBezTo>
                <a:cubicBezTo>
                  <a:pt x="2946" y="3578"/>
                  <a:pt x="1769" y="4615"/>
                  <a:pt x="615" y="4584"/>
                </a:cubicBezTo>
                <a:cubicBezTo>
                  <a:pt x="409" y="4594"/>
                  <a:pt x="61" y="4523"/>
                  <a:pt x="0" y="4500"/>
                </a:cubicBezTo>
                <a:lnTo>
                  <a:pt x="0" y="84"/>
                </a:lnTo>
                <a:close/>
              </a:path>
            </a:pathLst>
          </a:custGeom>
          <a:solidFill>
            <a:srgbClr val="812E3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312545" y="2752725"/>
            <a:ext cx="2480310" cy="2480310"/>
          </a:xfrm>
          <a:prstGeom prst="ellipse">
            <a:avLst/>
          </a:prstGeom>
          <a:solidFill>
            <a:srgbClr val="812E31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pic>
        <p:nvPicPr>
          <p:cNvPr id="11" name="图片 10" descr="4"/>
          <p:cNvPicPr>
            <a:picLocks noChangeAspect="1"/>
          </p:cNvPicPr>
          <p:nvPr/>
        </p:nvPicPr>
        <p:blipFill>
          <a:blip r:embed="rId2">
            <a:lum bright="-6000"/>
          </a:blip>
          <a:srcRect t="6780"/>
          <a:stretch>
            <a:fillRect/>
          </a:stretch>
        </p:blipFill>
        <p:spPr>
          <a:xfrm>
            <a:off x="947420" y="0"/>
            <a:ext cx="1694815" cy="298005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4939030" y="4645660"/>
            <a:ext cx="3227070" cy="660400"/>
          </a:xfrm>
          <a:prstGeom prst="rect">
            <a:avLst/>
          </a:prstGeom>
          <a:solidFill>
            <a:srgbClr val="EAEAEA">
              <a:alpha val="7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第三部分</a:t>
            </a:r>
            <a:endParaRPr lang="zh-CN" altLang="en-US" sz="4400">
              <a:solidFill>
                <a:srgbClr val="812E3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19015" y="2889885"/>
            <a:ext cx="5337175" cy="10793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2400" dirty="0">
                <a:solidFill>
                  <a:srgbClr val="EAEAEA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文化不仅能护国安邦，更能转化为实实在在的经济国力。</a:t>
            </a:r>
            <a:endParaRPr lang="zh-CN" altLang="en-US" sz="2400" dirty="0">
              <a:solidFill>
                <a:srgbClr val="EAEAEA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19015" y="1163320"/>
            <a:ext cx="5337810" cy="14916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文化兴，转化为经济硬实力</a:t>
            </a:r>
            <a:endParaRPr lang="zh-CN" altLang="en-US" sz="4000" dirty="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sym typeface="Arial" panose="020B0604020202020204"/>
            </a:endParaRPr>
          </a:p>
          <a:p>
            <a:pPr>
              <a:lnSpc>
                <a:spcPct val="130000"/>
              </a:lnSpc>
            </a:pPr>
            <a:endParaRPr lang="zh-CN" altLang="en-US" sz="4000" dirty="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4925695" y="2654300"/>
            <a:ext cx="4928235" cy="0"/>
          </a:xfrm>
          <a:prstGeom prst="line">
            <a:avLst/>
          </a:prstGeom>
          <a:ln w="25400">
            <a:solidFill>
              <a:srgbClr val="EAEA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9" grpId="0" bldLvl="0" animBg="1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58"/>
          <p:cNvSpPr>
            <a:spLocks noChangeArrowheads="1"/>
          </p:cNvSpPr>
          <p:nvPr/>
        </p:nvSpPr>
        <p:spPr bwMode="auto">
          <a:xfrm>
            <a:off x="725170" y="1378585"/>
            <a:ext cx="3409950" cy="4523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 marL="742950" indent="-285750">
              <a:defRPr>
                <a:solidFill>
                  <a:schemeClr val="tx1"/>
                </a:solidFill>
              </a:defRPr>
            </a:lvl2pPr>
            <a:lvl3pPr marL="1143000" indent="-228600">
              <a:defRPr>
                <a:solidFill>
                  <a:schemeClr val="tx1"/>
                </a:solidFill>
              </a:defRPr>
            </a:lvl3pPr>
            <a:lvl4pPr marL="1600200" indent="-228600">
              <a:defRPr>
                <a:solidFill>
                  <a:schemeClr val="tx1"/>
                </a:solidFill>
              </a:defRPr>
            </a:lvl4pPr>
            <a:lvl5pPr marL="2057400" indent="-228600">
              <a:defRPr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</a:defRPr>
            </a:lvl9pPr>
          </a:lstStyle>
          <a:p>
            <a:pPr indent="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云南楚雄彝绣，依托传统文化资源不断转型升级，从小众非遗发展成热门出口产业，现有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513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个绣坊、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77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个就业车间，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2025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年增加值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3.44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亿元，远销</a:t>
            </a:r>
            <a:r>
              <a:rPr lang="en-US" altLang="zh-CN" sz="2400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45</a:t>
            </a:r>
            <a:r>
              <a:rPr lang="zh-CN" altLang="en-US" sz="2400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个国家和地区。</a:t>
            </a:r>
            <a:endParaRPr lang="zh-CN" altLang="en-US" sz="2400">
              <a:solidFill>
                <a:schemeClr val="tx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490855" y="447675"/>
            <a:ext cx="5946140" cy="681355"/>
            <a:chOff x="773" y="705"/>
            <a:chExt cx="9364" cy="1073"/>
          </a:xfrm>
        </p:grpSpPr>
        <p:sp>
          <p:nvSpPr>
            <p:cNvPr id="11" name="椭圆 10"/>
            <p:cNvSpPr/>
            <p:nvPr/>
          </p:nvSpPr>
          <p:spPr>
            <a:xfrm>
              <a:off x="773" y="767"/>
              <a:ext cx="1011" cy="1011"/>
            </a:xfrm>
            <a:prstGeom prst="ellipse">
              <a:avLst/>
            </a:prstGeom>
            <a:noFill/>
            <a:ln w="25400">
              <a:solidFill>
                <a:srgbClr val="812E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叁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801" y="705"/>
              <a:ext cx="8336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文化之于经济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6900" y="567055"/>
            <a:ext cx="4425950" cy="59201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890" y="187325"/>
            <a:ext cx="3870960" cy="65792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0" y="377190"/>
            <a:ext cx="4843145" cy="63893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265555" y="1529715"/>
            <a:ext cx="1614170" cy="2095500"/>
            <a:chOff x="3442" y="3025"/>
            <a:chExt cx="2542" cy="3300"/>
          </a:xfrm>
          <a:solidFill>
            <a:srgbClr val="812E31"/>
          </a:solidFill>
        </p:grpSpPr>
        <p:sp>
          <p:nvSpPr>
            <p:cNvPr id="6" name="椭圆 5"/>
            <p:cNvSpPr/>
            <p:nvPr>
              <p:custDataLst>
                <p:tags r:id="rId2"/>
              </p:custDataLst>
            </p:nvPr>
          </p:nvSpPr>
          <p:spPr>
            <a:xfrm>
              <a:off x="3442" y="3025"/>
              <a:ext cx="2542" cy="25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  <p:sp>
          <p:nvSpPr>
            <p:cNvPr id="7" name="下箭头 6"/>
            <p:cNvSpPr/>
            <p:nvPr>
              <p:custDataLst>
                <p:tags r:id="rId3"/>
              </p:custDataLst>
            </p:nvPr>
          </p:nvSpPr>
          <p:spPr>
            <a:xfrm>
              <a:off x="4122" y="4807"/>
              <a:ext cx="1182" cy="1518"/>
            </a:xfrm>
            <a:prstGeom prst="downArrow">
              <a:avLst>
                <a:gd name="adj1" fmla="val 50000"/>
                <a:gd name="adj2" fmla="val 5415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  <p:sp>
          <p:nvSpPr>
            <p:cNvPr id="9" name="文本框 4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442" y="3852"/>
              <a:ext cx="2542" cy="1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</a:defRPr>
              </a:lvl1pPr>
              <a:lvl2pPr marL="742950" indent="-285750">
                <a:defRPr>
                  <a:solidFill>
                    <a:schemeClr val="tx1"/>
                  </a:solidFill>
                </a:defRPr>
              </a:lvl2pPr>
              <a:lvl3pPr marL="1143000" indent="-228600">
                <a:defRPr>
                  <a:solidFill>
                    <a:schemeClr val="tx1"/>
                  </a:solidFill>
                </a:defRPr>
              </a:lvl3pPr>
              <a:lvl4pPr marL="1600200" indent="-228600">
                <a:defRPr>
                  <a:solidFill>
                    <a:schemeClr val="tx1"/>
                  </a:solidFill>
                </a:defRPr>
              </a:lvl4pPr>
              <a:lvl5pPr marL="2057400" indent="-228600">
                <a:defRPr>
                  <a:solidFill>
                    <a:schemeClr val="tx1"/>
                  </a:solidFill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 文化赋能产业升级</a:t>
              </a:r>
              <a:endParaRPr lang="zh-CN" altLang="en-US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5"/>
            </p:custDataLst>
          </p:nvPr>
        </p:nvGrpSpPr>
        <p:grpSpPr>
          <a:xfrm>
            <a:off x="3881120" y="1529715"/>
            <a:ext cx="1665605" cy="2095500"/>
            <a:chOff x="6602" y="3025"/>
            <a:chExt cx="2623" cy="3300"/>
          </a:xfrm>
          <a:solidFill>
            <a:srgbClr val="812E31"/>
          </a:solidFill>
        </p:grpSpPr>
        <p:sp>
          <p:nvSpPr>
            <p:cNvPr id="12" name="椭圆 11"/>
            <p:cNvSpPr/>
            <p:nvPr>
              <p:custDataLst>
                <p:tags r:id="rId6"/>
              </p:custDataLst>
            </p:nvPr>
          </p:nvSpPr>
          <p:spPr>
            <a:xfrm>
              <a:off x="6602" y="3025"/>
              <a:ext cx="2542" cy="25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  <p:sp>
          <p:nvSpPr>
            <p:cNvPr id="2" name="下箭头 1"/>
            <p:cNvSpPr/>
            <p:nvPr>
              <p:custDataLst>
                <p:tags r:id="rId7"/>
              </p:custDataLst>
            </p:nvPr>
          </p:nvSpPr>
          <p:spPr>
            <a:xfrm>
              <a:off x="7282" y="4807"/>
              <a:ext cx="1185" cy="1518"/>
            </a:xfrm>
            <a:prstGeom prst="downArrow">
              <a:avLst>
                <a:gd name="adj1" fmla="val 50000"/>
                <a:gd name="adj2" fmla="val 5415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  <p:sp>
          <p:nvSpPr>
            <p:cNvPr id="15" name="文本框 47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683" y="3869"/>
              <a:ext cx="2542" cy="1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</a:defRPr>
              </a:lvl1pPr>
              <a:lvl2pPr marL="742950" indent="-285750">
                <a:defRPr>
                  <a:solidFill>
                    <a:schemeClr val="tx1"/>
                  </a:solidFill>
                </a:defRPr>
              </a:lvl2pPr>
              <a:lvl3pPr marL="1143000" indent="-228600">
                <a:defRPr>
                  <a:solidFill>
                    <a:schemeClr val="tx1"/>
                  </a:solidFill>
                </a:defRPr>
              </a:lvl3pPr>
              <a:lvl4pPr marL="1600200" indent="-228600">
                <a:defRPr>
                  <a:solidFill>
                    <a:schemeClr val="tx1"/>
                  </a:solidFill>
                </a:defRPr>
              </a:lvl4pPr>
              <a:lvl5pPr marL="2057400" indent="-228600">
                <a:defRPr>
                  <a:solidFill>
                    <a:schemeClr val="tx1"/>
                  </a:solidFill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文化催生全新经济增长点</a:t>
              </a:r>
              <a:endParaRPr lang="zh-CN" altLang="en-US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9"/>
            </p:custDataLst>
          </p:nvPr>
        </p:nvGrpSpPr>
        <p:grpSpPr>
          <a:xfrm>
            <a:off x="6544310" y="1529715"/>
            <a:ext cx="1666875" cy="2095500"/>
            <a:chOff x="9759" y="3025"/>
            <a:chExt cx="2625" cy="3300"/>
          </a:xfrm>
          <a:solidFill>
            <a:srgbClr val="812E31"/>
          </a:solidFill>
        </p:grpSpPr>
        <p:sp>
          <p:nvSpPr>
            <p:cNvPr id="18" name="椭圆 17"/>
            <p:cNvSpPr/>
            <p:nvPr>
              <p:custDataLst>
                <p:tags r:id="rId10"/>
              </p:custDataLst>
            </p:nvPr>
          </p:nvSpPr>
          <p:spPr>
            <a:xfrm>
              <a:off x="9759" y="3025"/>
              <a:ext cx="2545" cy="25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  <p:sp>
          <p:nvSpPr>
            <p:cNvPr id="19" name="下箭头 18"/>
            <p:cNvSpPr/>
            <p:nvPr>
              <p:custDataLst>
                <p:tags r:id="rId11"/>
              </p:custDataLst>
            </p:nvPr>
          </p:nvSpPr>
          <p:spPr>
            <a:xfrm>
              <a:off x="10439" y="4807"/>
              <a:ext cx="1185" cy="1518"/>
            </a:xfrm>
            <a:prstGeom prst="downArrow">
              <a:avLst>
                <a:gd name="adj1" fmla="val 50000"/>
                <a:gd name="adj2" fmla="val 5415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  <p:sp>
          <p:nvSpPr>
            <p:cNvPr id="21" name="文本框 48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9840" y="3885"/>
              <a:ext cx="2544" cy="1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</a:defRPr>
              </a:lvl1pPr>
              <a:lvl2pPr marL="742950" indent="-285750">
                <a:defRPr>
                  <a:solidFill>
                    <a:schemeClr val="tx1"/>
                  </a:solidFill>
                </a:defRPr>
              </a:lvl2pPr>
              <a:lvl3pPr marL="1143000" indent="-228600">
                <a:defRPr>
                  <a:solidFill>
                    <a:schemeClr val="tx1"/>
                  </a:solidFill>
                </a:defRPr>
              </a:lvl3pPr>
              <a:lvl4pPr marL="1600200" indent="-228600">
                <a:defRPr>
                  <a:solidFill>
                    <a:schemeClr val="tx1"/>
                  </a:solidFill>
                </a:defRPr>
              </a:lvl4pPr>
              <a:lvl5pPr marL="2057400" indent="-228600">
                <a:defRPr>
                  <a:solidFill>
                    <a:schemeClr val="tx1"/>
                  </a:solidFill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文化提升产品附加价值</a:t>
              </a:r>
              <a:endParaRPr lang="zh-CN" altLang="en-US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13"/>
            </p:custDataLst>
          </p:nvPr>
        </p:nvGrpSpPr>
        <p:grpSpPr>
          <a:xfrm>
            <a:off x="9157970" y="1589405"/>
            <a:ext cx="1615440" cy="2095500"/>
            <a:chOff x="12922" y="3025"/>
            <a:chExt cx="2544" cy="3300"/>
          </a:xfrm>
          <a:solidFill>
            <a:srgbClr val="812E31"/>
          </a:solidFill>
        </p:grpSpPr>
        <p:sp>
          <p:nvSpPr>
            <p:cNvPr id="24" name="椭圆 23"/>
            <p:cNvSpPr/>
            <p:nvPr>
              <p:custDataLst>
                <p:tags r:id="rId14"/>
              </p:custDataLst>
            </p:nvPr>
          </p:nvSpPr>
          <p:spPr>
            <a:xfrm>
              <a:off x="12922" y="3025"/>
              <a:ext cx="2542" cy="254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  <p:sp>
          <p:nvSpPr>
            <p:cNvPr id="25" name="下箭头 24"/>
            <p:cNvSpPr/>
            <p:nvPr>
              <p:custDataLst>
                <p:tags r:id="rId15"/>
              </p:custDataLst>
            </p:nvPr>
          </p:nvSpPr>
          <p:spPr>
            <a:xfrm>
              <a:off x="13606" y="4807"/>
              <a:ext cx="1182" cy="1518"/>
            </a:xfrm>
            <a:prstGeom prst="downArrow">
              <a:avLst>
                <a:gd name="adj1" fmla="val 50000"/>
                <a:gd name="adj2" fmla="val 5415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  <p:sp>
          <p:nvSpPr>
            <p:cNvPr id="27" name="文本框 49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2922" y="3825"/>
              <a:ext cx="2544" cy="1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</a:defRPr>
              </a:lvl1pPr>
              <a:lvl2pPr marL="742950" indent="-285750">
                <a:defRPr>
                  <a:solidFill>
                    <a:schemeClr val="tx1"/>
                  </a:solidFill>
                </a:defRPr>
              </a:lvl2pPr>
              <a:lvl3pPr marL="1143000" indent="-228600">
                <a:defRPr>
                  <a:solidFill>
                    <a:schemeClr val="tx1"/>
                  </a:solidFill>
                </a:defRPr>
              </a:lvl3pPr>
              <a:lvl4pPr marL="1600200" indent="-228600">
                <a:defRPr>
                  <a:solidFill>
                    <a:schemeClr val="tx1"/>
                  </a:solidFill>
                </a:defRPr>
              </a:lvl4pPr>
              <a:lvl5pPr marL="2057400" indent="-228600">
                <a:defRPr>
                  <a:solidFill>
                    <a:schemeClr val="tx1"/>
                  </a:solidFill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文化优化营商与发展环境</a:t>
              </a:r>
              <a:endParaRPr lang="zh-CN" altLang="en-US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  <p:sp>
        <p:nvSpPr>
          <p:cNvPr id="31" name="文本框 30"/>
          <p:cNvSpPr txBox="1"/>
          <p:nvPr>
            <p:custDataLst>
              <p:tags r:id="rId17"/>
            </p:custDataLst>
          </p:nvPr>
        </p:nvSpPr>
        <p:spPr>
          <a:xfrm>
            <a:off x="958215" y="3625850"/>
            <a:ext cx="2703195" cy="2894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文化为传统制造业、服务业注入审美与创意内核，催生国潮消费热潮，拉长产业价值链条，为经济高质量发展注入持久内生动力。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32" name="文本框 31"/>
          <p:cNvSpPr txBox="1"/>
          <p:nvPr>
            <p:custDataLst>
              <p:tags r:id="rId18"/>
            </p:custDataLst>
          </p:nvPr>
        </p:nvSpPr>
        <p:spPr>
          <a:xfrm>
            <a:off x="3573780" y="3684270"/>
            <a:ext cx="2522855" cy="2613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文创、文旅、数字文化等新兴业态快速崛起，创造大量就业岗位与营收，成为稳增长、促转型的重要支柱性经济板块。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33" name="文本框 32"/>
          <p:cNvSpPr txBox="1"/>
          <p:nvPr>
            <p:custDataLst>
              <p:tags r:id="rId19"/>
            </p:custDataLst>
          </p:nvPr>
        </p:nvSpPr>
        <p:spPr>
          <a:xfrm>
            <a:off x="6237605" y="3684270"/>
            <a:ext cx="2562225" cy="30137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赋予商品独特文化内涵与精神符号，大幅提升品牌辨识度与溢价空间，帮助国货品牌在国内外市场赢得更强议价能力与受众认可。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34" name="文本框 33"/>
          <p:cNvSpPr txBox="1"/>
          <p:nvPr>
            <p:custDataLst>
              <p:tags r:id="rId20"/>
            </p:custDataLst>
          </p:nvPr>
        </p:nvSpPr>
        <p:spPr>
          <a:xfrm>
            <a:off x="8853170" y="3806190"/>
            <a:ext cx="2650490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优良的社会文化与诚信营商氛围，能吸引资本、人才等优质要素聚集，为区域经济持续稳定健康发展筑牢无形的环境根基。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90855" y="447675"/>
            <a:ext cx="3639820" cy="681355"/>
            <a:chOff x="773" y="705"/>
            <a:chExt cx="5732" cy="1073"/>
          </a:xfrm>
        </p:grpSpPr>
        <p:sp>
          <p:nvSpPr>
            <p:cNvPr id="11" name="椭圆 10"/>
            <p:cNvSpPr/>
            <p:nvPr/>
          </p:nvSpPr>
          <p:spPr>
            <a:xfrm>
              <a:off x="773" y="767"/>
              <a:ext cx="1011" cy="1011"/>
            </a:xfrm>
            <a:prstGeom prst="ellipse">
              <a:avLst/>
            </a:prstGeom>
            <a:noFill/>
            <a:ln w="25400">
              <a:solidFill>
                <a:srgbClr val="812E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叁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801" y="705"/>
              <a:ext cx="4704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文化之于经济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3"/>
          <p:cNvPicPr>
            <a:picLocks noChangeAspect="1"/>
          </p:cNvPicPr>
          <p:nvPr/>
        </p:nvPicPr>
        <p:blipFill>
          <a:blip r:embed="rId1">
            <a:lum bright="-6000"/>
          </a:blip>
          <a:stretch>
            <a:fillRect/>
          </a:stretch>
        </p:blipFill>
        <p:spPr>
          <a:xfrm rot="5400000">
            <a:off x="5880100" y="-184150"/>
            <a:ext cx="4998085" cy="7627620"/>
          </a:xfrm>
          <a:prstGeom prst="rect">
            <a:avLst/>
          </a:prstGeom>
        </p:spPr>
      </p:pic>
      <p:sp>
        <p:nvSpPr>
          <p:cNvPr id="7" name="任意多边形 6"/>
          <p:cNvSpPr/>
          <p:nvPr/>
        </p:nvSpPr>
        <p:spPr>
          <a:xfrm rot="5400000">
            <a:off x="4286885" y="-76200"/>
            <a:ext cx="6858000" cy="70110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13" h="11041">
                <a:moveTo>
                  <a:pt x="0" y="0"/>
                </a:moveTo>
                <a:lnTo>
                  <a:pt x="8013" y="0"/>
                </a:lnTo>
                <a:lnTo>
                  <a:pt x="8013" y="11041"/>
                </a:lnTo>
                <a:lnTo>
                  <a:pt x="0" y="11041"/>
                </a:lnTo>
                <a:lnTo>
                  <a:pt x="0" y="569"/>
                </a:lnTo>
                <a:lnTo>
                  <a:pt x="2686" y="569"/>
                </a:lnTo>
                <a:lnTo>
                  <a:pt x="2686" y="449"/>
                </a:lnTo>
                <a:lnTo>
                  <a:pt x="0" y="449"/>
                </a:lnTo>
                <a:lnTo>
                  <a:pt x="0" y="0"/>
                </a:lnTo>
                <a:close/>
              </a:path>
            </a:pathLst>
          </a:custGeom>
          <a:solidFill>
            <a:srgbClr val="812E31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0" y="3198495"/>
            <a:ext cx="2254250" cy="355409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2908" h="4586">
                <a:moveTo>
                  <a:pt x="0" y="84"/>
                </a:moveTo>
                <a:cubicBezTo>
                  <a:pt x="142" y="34"/>
                  <a:pt x="511" y="-9"/>
                  <a:pt x="615" y="0"/>
                </a:cubicBezTo>
                <a:cubicBezTo>
                  <a:pt x="1901" y="-39"/>
                  <a:pt x="2938" y="1138"/>
                  <a:pt x="2907" y="2292"/>
                </a:cubicBezTo>
                <a:cubicBezTo>
                  <a:pt x="2946" y="3578"/>
                  <a:pt x="1769" y="4615"/>
                  <a:pt x="615" y="4584"/>
                </a:cubicBezTo>
                <a:cubicBezTo>
                  <a:pt x="409" y="4594"/>
                  <a:pt x="61" y="4523"/>
                  <a:pt x="0" y="4500"/>
                </a:cubicBezTo>
                <a:lnTo>
                  <a:pt x="0" y="84"/>
                </a:lnTo>
                <a:close/>
              </a:path>
            </a:pathLst>
          </a:custGeom>
          <a:solidFill>
            <a:srgbClr val="812E3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312545" y="2752725"/>
            <a:ext cx="2480310" cy="2480310"/>
          </a:xfrm>
          <a:prstGeom prst="ellipse">
            <a:avLst/>
          </a:prstGeom>
          <a:solidFill>
            <a:srgbClr val="812E31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pic>
        <p:nvPicPr>
          <p:cNvPr id="11" name="图片 10" descr="4"/>
          <p:cNvPicPr>
            <a:picLocks noChangeAspect="1"/>
          </p:cNvPicPr>
          <p:nvPr/>
        </p:nvPicPr>
        <p:blipFill>
          <a:blip r:embed="rId2">
            <a:lum bright="-6000"/>
          </a:blip>
          <a:srcRect t="6780"/>
          <a:stretch>
            <a:fillRect/>
          </a:stretch>
        </p:blipFill>
        <p:spPr>
          <a:xfrm>
            <a:off x="947420" y="0"/>
            <a:ext cx="1694815" cy="298005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4939030" y="4645660"/>
            <a:ext cx="3227070" cy="660400"/>
          </a:xfrm>
          <a:prstGeom prst="rect">
            <a:avLst/>
          </a:prstGeom>
          <a:solidFill>
            <a:srgbClr val="EAEAEA">
              <a:alpha val="7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第四部分</a:t>
            </a:r>
            <a:endParaRPr lang="zh-CN" altLang="en-US" sz="4400">
              <a:solidFill>
                <a:srgbClr val="812E3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19015" y="2889885"/>
            <a:ext cx="5337175" cy="124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2800" dirty="0">
                <a:solidFill>
                  <a:srgbClr val="EAEAEA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国运之兴，首在文脉之续。</a:t>
            </a:r>
            <a:endParaRPr lang="en-US" altLang="zh-CN" sz="2800" dirty="0">
              <a:solidFill>
                <a:srgbClr val="EAEAEA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  <a:p>
            <a:pPr algn="l">
              <a:lnSpc>
                <a:spcPct val="140000"/>
              </a:lnSpc>
            </a:pPr>
            <a:r>
              <a:rPr lang="zh-CN" altLang="en-US" sz="2800" dirty="0">
                <a:solidFill>
                  <a:srgbClr val="EAEAEA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文化，是一个民族的根与魂。</a:t>
            </a:r>
            <a:endParaRPr lang="zh-CN" altLang="en-US" sz="2800" dirty="0">
              <a:solidFill>
                <a:srgbClr val="EAEAEA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19015" y="1163320"/>
            <a:ext cx="5337810" cy="16297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文化兴，守住民族文脉根脉</a:t>
            </a:r>
            <a:endParaRPr lang="zh-CN" altLang="en-US" sz="4000" dirty="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4925695" y="2654300"/>
            <a:ext cx="4928235" cy="0"/>
          </a:xfrm>
          <a:prstGeom prst="line">
            <a:avLst/>
          </a:prstGeom>
          <a:ln w="25400">
            <a:solidFill>
              <a:srgbClr val="EAEA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9" grpId="0" bldLvl="0" animBg="1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3"/>
          <p:cNvPicPr>
            <a:picLocks noChangeAspect="1"/>
          </p:cNvPicPr>
          <p:nvPr/>
        </p:nvPicPr>
        <p:blipFill>
          <a:blip r:embed="rId1">
            <a:lum bright="-6000"/>
          </a:blip>
          <a:stretch>
            <a:fillRect/>
          </a:stretch>
        </p:blipFill>
        <p:spPr>
          <a:xfrm rot="5400000">
            <a:off x="5880100" y="-184150"/>
            <a:ext cx="4998085" cy="7627620"/>
          </a:xfrm>
          <a:prstGeom prst="rect">
            <a:avLst/>
          </a:prstGeom>
        </p:spPr>
      </p:pic>
      <p:sp>
        <p:nvSpPr>
          <p:cNvPr id="7" name="任意多边形 6"/>
          <p:cNvSpPr/>
          <p:nvPr/>
        </p:nvSpPr>
        <p:spPr>
          <a:xfrm rot="5400000">
            <a:off x="4286885" y="-76200"/>
            <a:ext cx="6858000" cy="70110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13" h="11041">
                <a:moveTo>
                  <a:pt x="0" y="0"/>
                </a:moveTo>
                <a:lnTo>
                  <a:pt x="8013" y="0"/>
                </a:lnTo>
                <a:lnTo>
                  <a:pt x="8013" y="11041"/>
                </a:lnTo>
                <a:lnTo>
                  <a:pt x="0" y="11041"/>
                </a:lnTo>
                <a:lnTo>
                  <a:pt x="0" y="569"/>
                </a:lnTo>
                <a:lnTo>
                  <a:pt x="2686" y="569"/>
                </a:lnTo>
                <a:lnTo>
                  <a:pt x="2686" y="449"/>
                </a:lnTo>
                <a:lnTo>
                  <a:pt x="0" y="449"/>
                </a:lnTo>
                <a:lnTo>
                  <a:pt x="0" y="0"/>
                </a:lnTo>
                <a:close/>
              </a:path>
            </a:pathLst>
          </a:custGeom>
          <a:solidFill>
            <a:srgbClr val="812E31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0" y="3198495"/>
            <a:ext cx="2254250" cy="355409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2908" h="4586">
                <a:moveTo>
                  <a:pt x="0" y="84"/>
                </a:moveTo>
                <a:cubicBezTo>
                  <a:pt x="142" y="34"/>
                  <a:pt x="511" y="-9"/>
                  <a:pt x="615" y="0"/>
                </a:cubicBezTo>
                <a:cubicBezTo>
                  <a:pt x="1901" y="-39"/>
                  <a:pt x="2938" y="1138"/>
                  <a:pt x="2907" y="2292"/>
                </a:cubicBezTo>
                <a:cubicBezTo>
                  <a:pt x="2946" y="3578"/>
                  <a:pt x="1769" y="4615"/>
                  <a:pt x="615" y="4584"/>
                </a:cubicBezTo>
                <a:cubicBezTo>
                  <a:pt x="409" y="4594"/>
                  <a:pt x="61" y="4523"/>
                  <a:pt x="0" y="4500"/>
                </a:cubicBezTo>
                <a:lnTo>
                  <a:pt x="0" y="84"/>
                </a:lnTo>
                <a:close/>
              </a:path>
            </a:pathLst>
          </a:custGeom>
          <a:solidFill>
            <a:srgbClr val="812E3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312545" y="2752725"/>
            <a:ext cx="2480310" cy="2480310"/>
          </a:xfrm>
          <a:prstGeom prst="ellipse">
            <a:avLst/>
          </a:prstGeom>
          <a:solidFill>
            <a:srgbClr val="812E31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pic>
        <p:nvPicPr>
          <p:cNvPr id="11" name="图片 10" descr="4"/>
          <p:cNvPicPr>
            <a:picLocks noChangeAspect="1"/>
          </p:cNvPicPr>
          <p:nvPr/>
        </p:nvPicPr>
        <p:blipFill>
          <a:blip r:embed="rId2">
            <a:lum bright="-6000"/>
          </a:blip>
          <a:srcRect t="6780"/>
          <a:stretch>
            <a:fillRect/>
          </a:stretch>
        </p:blipFill>
        <p:spPr>
          <a:xfrm>
            <a:off x="947420" y="0"/>
            <a:ext cx="1694815" cy="2980055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4939030" y="4645660"/>
            <a:ext cx="3227070" cy="660400"/>
          </a:xfrm>
          <a:prstGeom prst="rect">
            <a:avLst/>
          </a:prstGeom>
          <a:solidFill>
            <a:srgbClr val="EAEAEA">
              <a:alpha val="7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第四部分</a:t>
            </a:r>
            <a:endParaRPr lang="zh-CN" altLang="en-US" sz="4400">
              <a:solidFill>
                <a:srgbClr val="812E3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19015" y="2889885"/>
            <a:ext cx="5337175" cy="124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2800" dirty="0">
                <a:solidFill>
                  <a:srgbClr val="EAEAEA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国运之兴，首在文脉之续。</a:t>
            </a:r>
            <a:endParaRPr lang="en-US" altLang="zh-CN" sz="2800" dirty="0">
              <a:solidFill>
                <a:srgbClr val="EAEAEA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  <a:p>
            <a:pPr algn="l">
              <a:lnSpc>
                <a:spcPct val="140000"/>
              </a:lnSpc>
            </a:pPr>
            <a:r>
              <a:rPr lang="zh-CN" altLang="en-US" sz="2800" dirty="0">
                <a:solidFill>
                  <a:srgbClr val="EAEAEA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文化，是一个民族的根与魂。</a:t>
            </a:r>
            <a:endParaRPr lang="zh-CN" altLang="en-US" sz="2800" dirty="0">
              <a:solidFill>
                <a:srgbClr val="EAEAEA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19015" y="1163320"/>
            <a:ext cx="5337810" cy="16297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rPr>
              <a:t>文化兴，守住民族文脉根脉</a:t>
            </a:r>
            <a:endParaRPr lang="zh-CN" altLang="en-US" sz="4000" dirty="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4925695" y="2654300"/>
            <a:ext cx="4928235" cy="0"/>
          </a:xfrm>
          <a:prstGeom prst="line">
            <a:avLst/>
          </a:prstGeom>
          <a:ln w="25400">
            <a:solidFill>
              <a:srgbClr val="EAEA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9" grpId="0" bldLvl="0" animBg="1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6"/>
          <p:cNvSpPr txBox="1">
            <a:spLocks noChangeArrowheads="1"/>
          </p:cNvSpPr>
          <p:nvPr/>
        </p:nvSpPr>
        <p:spPr bwMode="auto">
          <a:xfrm>
            <a:off x="453799" y="1945833"/>
            <a:ext cx="3513047" cy="1806189"/>
          </a:xfrm>
          <a:prstGeom prst="rect">
            <a:avLst/>
          </a:prstGeom>
          <a:solidFill>
            <a:srgbClr val="812E31"/>
          </a:solidFill>
          <a:ln>
            <a:noFill/>
          </a:ln>
        </p:spPr>
        <p:txBody>
          <a:bodyPr>
            <a:noAutofit/>
          </a:bodyPr>
          <a:lstStyle>
            <a:lvl1pPr eaLnBrk="0" hangingPunct="0">
              <a:defRPr>
                <a:solidFill>
                  <a:schemeClr val="tx1"/>
                </a:solidFill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4000" kern="0" dirty="0">
                <a:solidFill>
                  <a:srgbClr val="FFFFFF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 </a:t>
            </a:r>
            <a:r>
              <a:rPr lang="zh-CN" altLang="en-US" sz="5400" kern="0" dirty="0">
                <a:solidFill>
                  <a:srgbClr val="FFFFFF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国之魂文，</a:t>
            </a:r>
            <a:endParaRPr lang="en-US" altLang="zh-CN" sz="5400" kern="0" dirty="0">
              <a:solidFill>
                <a:srgbClr val="FFFFFF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kern="0" dirty="0">
                <a:solidFill>
                  <a:srgbClr val="FFFFFF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民之根脉</a:t>
            </a:r>
            <a:endParaRPr lang="zh-CN" altLang="en-US" sz="4000" kern="0" dirty="0">
              <a:solidFill>
                <a:srgbClr val="FFFFFF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16" name="椭圆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057333" y="1844358"/>
            <a:ext cx="504825" cy="504825"/>
          </a:xfrm>
          <a:prstGeom prst="ellipse">
            <a:avLst/>
          </a:prstGeom>
          <a:solidFill>
            <a:srgbClr val="812E31"/>
          </a:solidFill>
          <a:ln w="9525">
            <a:noFill/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1</a:t>
            </a:r>
            <a:endParaRPr kumimoji="0" lang="en-US" altLang="zh-CN" sz="2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17" name="椭圆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057333" y="2473008"/>
            <a:ext cx="504825" cy="503237"/>
          </a:xfrm>
          <a:prstGeom prst="ellipse">
            <a:avLst/>
          </a:prstGeom>
          <a:solidFill>
            <a:srgbClr val="812E31"/>
          </a:solidFill>
          <a:ln w="9525">
            <a:noFill/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2</a:t>
            </a:r>
            <a:endParaRPr kumimoji="0" lang="en-US" altLang="zh-CN" sz="2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18" name="椭圆 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057333" y="3155633"/>
            <a:ext cx="504825" cy="503237"/>
          </a:xfrm>
          <a:prstGeom prst="ellipse">
            <a:avLst/>
          </a:prstGeom>
          <a:solidFill>
            <a:srgbClr val="812E31"/>
          </a:solidFill>
          <a:ln w="9525">
            <a:noFill/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3</a:t>
            </a:r>
            <a:endParaRPr kumimoji="0" lang="en-US" altLang="zh-CN" sz="2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19" name="TextBox 1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52645" y="2012315"/>
            <a:ext cx="68405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源远流长的甲骨文</a:t>
            </a:r>
            <a:endParaRPr lang="zh-CN" altLang="en-US" sz="2400" kern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0" name="TextBox 1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652645" y="2536508"/>
            <a:ext cx="68405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满文档案</a:t>
            </a:r>
            <a:endParaRPr lang="zh-CN" altLang="en-US" sz="2400" kern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1" name="TextBox 1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652645" y="3212783"/>
            <a:ext cx="68405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古朴独特的纳西东巴文</a:t>
            </a:r>
            <a:endParaRPr lang="zh-CN" altLang="en-US" sz="2400" kern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2" name="椭圆 1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057333" y="3876358"/>
            <a:ext cx="504825" cy="504825"/>
          </a:xfrm>
          <a:prstGeom prst="ellipse">
            <a:avLst/>
          </a:prstGeom>
          <a:solidFill>
            <a:srgbClr val="812E31"/>
          </a:solidFill>
          <a:ln w="9525">
            <a:noFill/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4</a:t>
            </a:r>
            <a:endParaRPr kumimoji="0" lang="en-US" altLang="zh-CN" sz="2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3" name="椭圆 1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057333" y="4505008"/>
            <a:ext cx="504825" cy="503237"/>
          </a:xfrm>
          <a:prstGeom prst="ellipse">
            <a:avLst/>
          </a:prstGeom>
          <a:solidFill>
            <a:srgbClr val="812E31"/>
          </a:solidFill>
          <a:ln w="9525">
            <a:noFill/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5</a:t>
            </a:r>
            <a:endParaRPr kumimoji="0" lang="en-US" altLang="zh-CN" sz="2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4" name="椭圆 20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4057333" y="5187633"/>
            <a:ext cx="504825" cy="503237"/>
          </a:xfrm>
          <a:prstGeom prst="ellipse">
            <a:avLst/>
          </a:prstGeom>
          <a:solidFill>
            <a:srgbClr val="812E31"/>
          </a:solidFill>
          <a:ln w="9525">
            <a:noFill/>
            <a:round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6</a:t>
            </a:r>
            <a:endParaRPr kumimoji="0" lang="en-US" altLang="zh-CN" sz="2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5" name="TextBox 2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652645" y="3944620"/>
            <a:ext cx="68405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陕北说书，河湟花儿</a:t>
            </a:r>
            <a:endParaRPr lang="zh-CN" altLang="en-US" sz="2400" kern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6" name="TextBox 22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652645" y="4605020"/>
            <a:ext cx="68405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恢弘石窟艺术</a:t>
            </a:r>
            <a:endParaRPr lang="zh-CN" altLang="en-US" sz="2400" kern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7" name="TextBox 2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652645" y="5265420"/>
            <a:ext cx="68405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各类传统刺绣</a:t>
            </a:r>
            <a:endParaRPr lang="zh-CN" altLang="en-US" sz="2400" kern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0855" y="447675"/>
            <a:ext cx="6558280" cy="681355"/>
            <a:chOff x="773" y="705"/>
            <a:chExt cx="10328" cy="1073"/>
          </a:xfrm>
        </p:grpSpPr>
        <p:sp>
          <p:nvSpPr>
            <p:cNvPr id="11" name="椭圆 10"/>
            <p:cNvSpPr/>
            <p:nvPr/>
          </p:nvSpPr>
          <p:spPr>
            <a:xfrm>
              <a:off x="773" y="767"/>
              <a:ext cx="1011" cy="1011"/>
            </a:xfrm>
            <a:prstGeom prst="ellipse">
              <a:avLst/>
            </a:prstGeom>
            <a:noFill/>
            <a:ln w="25400">
              <a:solidFill>
                <a:srgbClr val="812E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肆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801" y="705"/>
              <a:ext cx="9300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文化之于民族之根于魂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 autoUpdateAnimBg="0"/>
      <p:bldP spid="16" grpId="0" bldLvl="0" animBg="1" autoUpdateAnimBg="0"/>
      <p:bldP spid="17" grpId="0" bldLvl="0" animBg="1" autoUpdateAnimBg="0"/>
      <p:bldP spid="18" grpId="0" bldLvl="0" animBg="1" autoUpdateAnimBg="0"/>
      <p:bldP spid="19" grpId="0" autoUpdateAnimBg="0"/>
      <p:bldP spid="20" grpId="0" autoUpdateAnimBg="0"/>
      <p:bldP spid="21" grpId="0" autoUpdateAnimBg="0"/>
      <p:bldP spid="22" grpId="0" bldLvl="0" animBg="1" autoUpdateAnimBg="0"/>
      <p:bldP spid="23" grpId="0" bldLvl="0" animBg="1" autoUpdateAnimBg="0"/>
      <p:bldP spid="24" grpId="0" bldLvl="0" animBg="1" autoUpdateAnimBg="0"/>
      <p:bldP spid="25" grpId="0" autoUpdateAnimBg="0"/>
      <p:bldP spid="26" grpId="0" autoUpdateAnimBg="0"/>
      <p:bldP spid="27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490855" y="447675"/>
            <a:ext cx="7493000" cy="681355"/>
            <a:chOff x="773" y="705"/>
            <a:chExt cx="11800" cy="1073"/>
          </a:xfrm>
        </p:grpSpPr>
        <p:sp>
          <p:nvSpPr>
            <p:cNvPr id="13" name="椭圆 12"/>
            <p:cNvSpPr/>
            <p:nvPr/>
          </p:nvSpPr>
          <p:spPr>
            <a:xfrm>
              <a:off x="773" y="767"/>
              <a:ext cx="1011" cy="1011"/>
            </a:xfrm>
            <a:prstGeom prst="ellipse">
              <a:avLst/>
            </a:prstGeom>
            <a:noFill/>
            <a:ln w="25400">
              <a:solidFill>
                <a:srgbClr val="812E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肆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801" y="705"/>
              <a:ext cx="10772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文化之于民族之根于魂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3445" y="0"/>
            <a:ext cx="5325110" cy="68580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040" y="612775"/>
            <a:ext cx="6918960" cy="590105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960" y="0"/>
            <a:ext cx="5719445" cy="68580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490" y="0"/>
            <a:ext cx="5112385" cy="6858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215" y="572135"/>
            <a:ext cx="10384155" cy="582422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3830" y="-108585"/>
            <a:ext cx="6341110" cy="685800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2550" y="0"/>
            <a:ext cx="7105015" cy="705421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1940" y="447675"/>
            <a:ext cx="6576060" cy="6398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组合 184"/>
          <p:cNvGrpSpPr/>
          <p:nvPr>
            <p:custDataLst>
              <p:tags r:id="rId1"/>
            </p:custDataLst>
          </p:nvPr>
        </p:nvGrpSpPr>
        <p:grpSpPr>
          <a:xfrm>
            <a:off x="798195" y="1733550"/>
            <a:ext cx="10792460" cy="1735455"/>
            <a:chOff x="5157515" y="1784090"/>
            <a:chExt cx="3384376" cy="1775690"/>
          </a:xfrm>
        </p:grpSpPr>
        <p:sp>
          <p:nvSpPr>
            <p:cNvPr id="186" name="矩形标注 185"/>
            <p:cNvSpPr/>
            <p:nvPr>
              <p:custDataLst>
                <p:tags r:id="rId2"/>
              </p:custDataLst>
            </p:nvPr>
          </p:nvSpPr>
          <p:spPr>
            <a:xfrm>
              <a:off x="5157515" y="1784090"/>
              <a:ext cx="3384376" cy="1775690"/>
            </a:xfrm>
            <a:prstGeom prst="wedgeRectCallout">
              <a:avLst/>
            </a:prstGeom>
            <a:solidFill>
              <a:srgbClr val="812E3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  <p:sp>
          <p:nvSpPr>
            <p:cNvPr id="188" name="TextBox 187"/>
            <p:cNvSpPr txBox="1"/>
            <p:nvPr>
              <p:custDataLst>
                <p:tags r:id="rId3"/>
              </p:custDataLst>
            </p:nvPr>
          </p:nvSpPr>
          <p:spPr>
            <a:xfrm>
              <a:off x="5243140" y="2010193"/>
              <a:ext cx="2990899" cy="1275404"/>
            </a:xfrm>
            <a:prstGeom prst="rect">
              <a:avLst/>
            </a:prstGeom>
            <a:noFill/>
          </p:spPr>
          <p:txBody>
            <a:bodyPr wrap="square" tIns="0" bIns="0" rtlCol="0" anchor="t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文脉绵延，筑牢民族立身之根</a:t>
              </a:r>
              <a:endPara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  <p:grpSp>
        <p:nvGrpSpPr>
          <p:cNvPr id="190" name="组合 189"/>
          <p:cNvGrpSpPr/>
          <p:nvPr>
            <p:custDataLst>
              <p:tags r:id="rId4"/>
            </p:custDataLst>
          </p:nvPr>
        </p:nvGrpSpPr>
        <p:grpSpPr>
          <a:xfrm>
            <a:off x="797560" y="3999230"/>
            <a:ext cx="10868660" cy="1735455"/>
            <a:chOff x="678722" y="4101582"/>
            <a:chExt cx="11122692" cy="1775690"/>
          </a:xfrm>
        </p:grpSpPr>
        <p:sp>
          <p:nvSpPr>
            <p:cNvPr id="191" name="矩形标注 190"/>
            <p:cNvSpPr/>
            <p:nvPr>
              <p:custDataLst>
                <p:tags r:id="rId5"/>
              </p:custDataLst>
            </p:nvPr>
          </p:nvSpPr>
          <p:spPr>
            <a:xfrm>
              <a:off x="678722" y="4101582"/>
              <a:ext cx="11046011" cy="1775690"/>
            </a:xfrm>
            <a:prstGeom prst="wedgeRectCallout">
              <a:avLst/>
            </a:prstGeom>
            <a:solidFill>
              <a:srgbClr val="812E3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  <p:sp>
          <p:nvSpPr>
            <p:cNvPr id="193" name="TextBox 192"/>
            <p:cNvSpPr txBox="1"/>
            <p:nvPr>
              <p:custDataLst>
                <p:tags r:id="rId6"/>
              </p:custDataLst>
            </p:nvPr>
          </p:nvSpPr>
          <p:spPr>
            <a:xfrm>
              <a:off x="1032886" y="4412149"/>
              <a:ext cx="10768528" cy="1275404"/>
            </a:xfrm>
            <a:prstGeom prst="rect">
              <a:avLst/>
            </a:prstGeom>
            <a:noFill/>
          </p:spPr>
          <p:txBody>
            <a:bodyPr wrap="square" tIns="0" bIns="0" rtlCol="0" anchor="t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文化昌盛，撑起华夏兴国之魂</a:t>
              </a:r>
              <a:endParaRPr kumimoji="0" lang="zh-CN" altLang="en-US" sz="54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90855" y="447675"/>
            <a:ext cx="7265035" cy="681355"/>
            <a:chOff x="773" y="705"/>
            <a:chExt cx="11441" cy="1073"/>
          </a:xfrm>
        </p:grpSpPr>
        <p:sp>
          <p:nvSpPr>
            <p:cNvPr id="11" name="椭圆 10"/>
            <p:cNvSpPr/>
            <p:nvPr/>
          </p:nvSpPr>
          <p:spPr>
            <a:xfrm>
              <a:off x="773" y="767"/>
              <a:ext cx="1011" cy="1011"/>
            </a:xfrm>
            <a:prstGeom prst="ellipse">
              <a:avLst/>
            </a:prstGeom>
            <a:noFill/>
            <a:ln w="25400">
              <a:solidFill>
                <a:srgbClr val="812E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sym typeface="Arial" panose="020B0604020202020204"/>
                </a:rPr>
                <a:t>肆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sym typeface="Arial" panose="020B0604020202020204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801" y="705"/>
              <a:ext cx="10413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3600">
                  <a:solidFill>
                    <a:srgbClr val="812E31"/>
                  </a:solidFill>
                  <a:latin typeface="Arial" panose="020B0604020202020204"/>
                  <a:ea typeface="华文新魏" panose="02010800040101010101" charset="-122"/>
                  <a:cs typeface="字魂45号-冰宇雅宋" panose="00000500000000000000" charset="-122"/>
                  <a:sym typeface="Arial" panose="020B0604020202020204"/>
                </a:rPr>
                <a:t>文化，是一个民族的根与魂。</a:t>
              </a:r>
              <a:endParaRPr lang="zh-CN" altLang="en-US" sz="360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028700" y="437725"/>
            <a:ext cx="6618333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4000" dirty="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青年寄语</a:t>
            </a:r>
            <a:endParaRPr lang="zh-CN" altLang="en-US" sz="4000" dirty="0">
              <a:solidFill>
                <a:srgbClr val="812E3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3" name="星形: 五角 2"/>
          <p:cNvSpPr/>
          <p:nvPr/>
        </p:nvSpPr>
        <p:spPr>
          <a:xfrm>
            <a:off x="474436" y="504569"/>
            <a:ext cx="596809" cy="574198"/>
          </a:xfrm>
          <a:prstGeom prst="star5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880757" y="1240908"/>
            <a:ext cx="767987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kern="0" dirty="0">
                <a:solidFill>
                  <a:schemeClr val="accent2">
                    <a:lumMod val="50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文脉绵延国之兴盛，始于文化；人之立身，源于修德。</a:t>
            </a:r>
            <a:endParaRPr lang="en-US" altLang="zh-CN" sz="3600" kern="0" dirty="0">
              <a:solidFill>
                <a:schemeClr val="accent2">
                  <a:lumMod val="50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  <a:p>
            <a:endParaRPr lang="en-US" altLang="zh-CN" sz="3600" kern="0" dirty="0">
              <a:solidFill>
                <a:schemeClr val="accent2">
                  <a:lumMod val="50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  <a:p>
            <a:r>
              <a:rPr lang="zh-CN" altLang="en-US" sz="3600" kern="0" dirty="0">
                <a:solidFill>
                  <a:schemeClr val="accent2">
                    <a:lumMod val="50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千年回响，言犹在耳；时代召唤，吾辈当先！愿我辈青年以</a:t>
            </a:r>
            <a:r>
              <a:rPr lang="en-US" altLang="zh-CN" sz="3600" kern="0" dirty="0">
                <a:solidFill>
                  <a:schemeClr val="accent2">
                    <a:lumMod val="50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《</a:t>
            </a:r>
            <a:r>
              <a:rPr lang="zh-CN" altLang="en-US" sz="3600" kern="0" dirty="0">
                <a:solidFill>
                  <a:schemeClr val="accent2">
                    <a:lumMod val="50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进德百言</a:t>
            </a:r>
            <a:r>
              <a:rPr lang="en-US" altLang="zh-CN" sz="3600" kern="0" dirty="0">
                <a:solidFill>
                  <a:schemeClr val="accent2">
                    <a:lumMod val="50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》</a:t>
            </a:r>
            <a:r>
              <a:rPr lang="zh-CN" altLang="en-US" sz="3600" kern="0" dirty="0">
                <a:solidFill>
                  <a:schemeClr val="accent2">
                    <a:lumMod val="50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为镜，崇德向善、笃行不怠，在传承文化中坚定自信，在砥砺德行中勇担使命，以青春之我，筑文化之基、兴强国之路！</a:t>
            </a:r>
            <a:endParaRPr lang="zh-CN" altLang="en-US" sz="36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408" y="1507670"/>
            <a:ext cx="3301337" cy="43379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3"/>
          <p:cNvPicPr>
            <a:picLocks noChangeAspect="1"/>
          </p:cNvPicPr>
          <p:nvPr/>
        </p:nvPicPr>
        <p:blipFill>
          <a:blip r:embed="rId1">
            <a:lum bright="-6000"/>
          </a:blip>
          <a:stretch>
            <a:fillRect/>
          </a:stretch>
        </p:blipFill>
        <p:spPr>
          <a:xfrm rot="5400000">
            <a:off x="5590540" y="105410"/>
            <a:ext cx="4998085" cy="7048500"/>
          </a:xfrm>
          <a:prstGeom prst="rect">
            <a:avLst/>
          </a:prstGeom>
        </p:spPr>
      </p:pic>
      <p:sp>
        <p:nvSpPr>
          <p:cNvPr id="7" name="任意多边形 6"/>
          <p:cNvSpPr/>
          <p:nvPr/>
        </p:nvSpPr>
        <p:spPr>
          <a:xfrm rot="5400000">
            <a:off x="5194935" y="-307023"/>
            <a:ext cx="5088255" cy="70110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013" h="11041">
                <a:moveTo>
                  <a:pt x="0" y="0"/>
                </a:moveTo>
                <a:lnTo>
                  <a:pt x="8013" y="0"/>
                </a:lnTo>
                <a:lnTo>
                  <a:pt x="8013" y="11041"/>
                </a:lnTo>
                <a:lnTo>
                  <a:pt x="0" y="11041"/>
                </a:lnTo>
                <a:lnTo>
                  <a:pt x="0" y="569"/>
                </a:lnTo>
                <a:lnTo>
                  <a:pt x="2686" y="569"/>
                </a:lnTo>
                <a:lnTo>
                  <a:pt x="2686" y="449"/>
                </a:lnTo>
                <a:lnTo>
                  <a:pt x="0" y="449"/>
                </a:lnTo>
                <a:lnTo>
                  <a:pt x="0" y="0"/>
                </a:lnTo>
                <a:close/>
              </a:path>
            </a:pathLst>
          </a:custGeom>
          <a:solidFill>
            <a:srgbClr val="812E31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0" y="3198495"/>
            <a:ext cx="2254250" cy="355409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2908" h="4586">
                <a:moveTo>
                  <a:pt x="0" y="84"/>
                </a:moveTo>
                <a:cubicBezTo>
                  <a:pt x="142" y="34"/>
                  <a:pt x="511" y="-9"/>
                  <a:pt x="615" y="0"/>
                </a:cubicBezTo>
                <a:cubicBezTo>
                  <a:pt x="1901" y="-39"/>
                  <a:pt x="2938" y="1138"/>
                  <a:pt x="2907" y="2292"/>
                </a:cubicBezTo>
                <a:cubicBezTo>
                  <a:pt x="2946" y="3578"/>
                  <a:pt x="1769" y="4615"/>
                  <a:pt x="615" y="4584"/>
                </a:cubicBezTo>
                <a:cubicBezTo>
                  <a:pt x="409" y="4594"/>
                  <a:pt x="61" y="4523"/>
                  <a:pt x="0" y="4500"/>
                </a:cubicBezTo>
                <a:lnTo>
                  <a:pt x="0" y="84"/>
                </a:lnTo>
                <a:close/>
              </a:path>
            </a:pathLst>
          </a:custGeom>
          <a:solidFill>
            <a:srgbClr val="812E31">
              <a:alpha val="9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312545" y="2752725"/>
            <a:ext cx="2480310" cy="2480310"/>
          </a:xfrm>
          <a:prstGeom prst="ellipse">
            <a:avLst/>
          </a:prstGeom>
          <a:solidFill>
            <a:srgbClr val="812E31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pic>
        <p:nvPicPr>
          <p:cNvPr id="11" name="图片 10" descr="4"/>
          <p:cNvPicPr>
            <a:picLocks noChangeAspect="1"/>
          </p:cNvPicPr>
          <p:nvPr/>
        </p:nvPicPr>
        <p:blipFill>
          <a:blip r:embed="rId2">
            <a:lum bright="-6000"/>
          </a:blip>
          <a:srcRect t="6780"/>
          <a:stretch>
            <a:fillRect/>
          </a:stretch>
        </p:blipFill>
        <p:spPr>
          <a:xfrm>
            <a:off x="947420" y="0"/>
            <a:ext cx="1694815" cy="298005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723765" y="1191895"/>
            <a:ext cx="124396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>
                <a:solidFill>
                  <a:schemeClr val="bg1">
                    <a:alpha val="66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感</a:t>
            </a:r>
            <a:endParaRPr lang="zh-CN" altLang="en-US" sz="8800">
              <a:solidFill>
                <a:schemeClr val="bg1">
                  <a:alpha val="66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543550" y="1976120"/>
            <a:ext cx="124396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谢</a:t>
            </a:r>
            <a:endParaRPr lang="zh-CN" altLang="en-US" sz="960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25110" y="3129915"/>
            <a:ext cx="12439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bg1">
                    <a:alpha val="66000"/>
                  </a:schemeClr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垂</a:t>
            </a:r>
            <a:endParaRPr lang="zh-CN" altLang="en-US" sz="6600" dirty="0">
              <a:solidFill>
                <a:schemeClr val="bg1">
                  <a:alpha val="66000"/>
                </a:schemeClr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65650" y="3787775"/>
            <a:ext cx="124396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听</a:t>
            </a:r>
            <a:endParaRPr lang="zh-CN" altLang="en-US" sz="8800" dirty="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939643" y="3214052"/>
            <a:ext cx="4049486" cy="1338262"/>
          </a:xfrm>
          <a:prstGeom prst="rect">
            <a:avLst/>
          </a:prstGeom>
          <a:solidFill>
            <a:srgbClr val="EAEAEA">
              <a:alpha val="7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观乎人文，以化成天下。</a:t>
            </a:r>
            <a:endParaRPr lang="en-US" altLang="zh-CN" sz="2800" dirty="0">
              <a:solidFill>
                <a:srgbClr val="812E3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  <a:p>
            <a:pPr algn="ctr"/>
            <a:r>
              <a:rPr lang="en-US" altLang="zh-CN" sz="2800" dirty="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             ——《</a:t>
            </a:r>
            <a:r>
              <a:rPr lang="zh-CN" altLang="en-US" sz="2800" dirty="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周易</a:t>
            </a:r>
            <a:r>
              <a:rPr lang="en-US" altLang="zh-CN" sz="2800" dirty="0">
                <a:solidFill>
                  <a:srgbClr val="812E3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》</a:t>
            </a:r>
            <a:endParaRPr lang="zh-CN" altLang="en-US" sz="2800" dirty="0">
              <a:solidFill>
                <a:srgbClr val="812E3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75830" y="1591945"/>
            <a:ext cx="35877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3600">
                <a:solidFill>
                  <a:schemeClr val="bg1"/>
                </a:solidFill>
                <a:latin typeface="Arial" panose="020B0604020202020204"/>
                <a:ea typeface="华文新魏" panose="02010800040101010101" charset="-122"/>
                <a:cs typeface="字魂45号-冰宇雅宋" panose="00000500000000000000" charset="-122"/>
                <a:sym typeface="Arial" panose="020B0604020202020204"/>
              </a:rPr>
              <a:t>文化兴则国家兴</a:t>
            </a:r>
            <a:endParaRPr lang="zh-CN" altLang="en-US" sz="3600">
              <a:solidFill>
                <a:schemeClr val="bg1"/>
              </a:solidFill>
              <a:latin typeface="Arial" panose="020B0604020202020204"/>
              <a:ea typeface="华文新魏" panose="02010800040101010101" charset="-122"/>
              <a:cs typeface="字魂45号-冰宇雅宋" panose="00000500000000000000" charset="-122"/>
              <a:sym typeface="Arial" panose="020B0604020202020204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7511415" y="2305685"/>
            <a:ext cx="3001645" cy="0"/>
          </a:xfrm>
          <a:prstGeom prst="line">
            <a:avLst/>
          </a:prstGeom>
          <a:ln w="22225">
            <a:solidFill>
              <a:srgbClr val="EAEA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tmFilter="0,0; .5, 1; 1, 1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600"/>
                            </p:stCondLst>
                            <p:childTnLst>
                              <p:par>
                                <p:cTn id="6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3" grpId="0"/>
      <p:bldP spid="14" grpId="0"/>
      <p:bldP spid="15" grpId="0"/>
      <p:bldP spid="16" grpId="0"/>
      <p:bldP spid="19" grpId="0" bldLvl="0" animBg="1"/>
      <p:bldP spid="21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463.5,&quot;left&quot;:322.35,&quot;top&quot;:163.75,&quot;width&quot;:338.8}"/>
</p:tagLst>
</file>

<file path=ppt/tags/tag2.xml><?xml version="1.0" encoding="utf-8"?>
<p:tagLst xmlns:p="http://schemas.openxmlformats.org/presentationml/2006/main">
  <p:tag name="KSO_WM_DIAGRAM_VIRTUALLY_FRAME" val="{&quot;height&quot;:463.5,&quot;left&quot;:322.35,&quot;top&quot;:163.75,&quot;width&quot;:338.8}"/>
</p:tagLst>
</file>

<file path=ppt/tags/tag3.xml><?xml version="1.0" encoding="utf-8"?>
<p:tagLst xmlns:p="http://schemas.openxmlformats.org/presentationml/2006/main">
  <p:tag name="KSO_WM_DIAGRAM_VIRTUALLY_FRAME" val="{&quot;height&quot;:463.5,&quot;left&quot;:322.35,&quot;top&quot;:163.75,&quot;width&quot;:338.8}"/>
</p:tagLst>
</file>

<file path=ppt/tags/tag4.xml><?xml version="1.0" encoding="utf-8"?>
<p:tagLst xmlns:p="http://schemas.openxmlformats.org/presentationml/2006/main">
  <p:tag name="KSO_WM_DIAGRAM_VIRTUALLY_FRAME" val="{&quot;height&quot;:463.5,&quot;left&quot;:322.35,&quot;top&quot;:163.75,&quot;width&quot;:338.8}"/>
</p:tagLst>
</file>

<file path=ppt/tags/tag5.xml><?xml version="1.0" encoding="utf-8"?>
<p:tagLst xmlns:p="http://schemas.openxmlformats.org/presentationml/2006/main">
  <p:tag name="KSO_WM_DIAGRAM_VIRTUALLY_FRAME" val="{&quot;height&quot;:463.5,&quot;left&quot;:322.35,&quot;top&quot;:163.75,&quot;width&quot;:338.8}"/>
</p:tagLst>
</file>

<file path=ppt/tags/tag6.xml><?xml version="1.0" encoding="utf-8"?>
<p:tagLst xmlns:p="http://schemas.openxmlformats.org/presentationml/2006/main">
  <p:tag name="KSO_WM_DIAGRAM_VIRTUALLY_FRAME" val="{&quot;height&quot;:463.5,&quot;left&quot;:322.35,&quot;top&quot;:163.75,&quot;width&quot;:338.8}"/>
</p:tagLst>
</file>

<file path=ppt/tags/tag7.xml><?xml version="1.0" encoding="utf-8"?>
<p:tagLst xmlns:p="http://schemas.openxmlformats.org/presentationml/2006/main">
  <p:tag name="KSO_WM_DIAGRAM_VIRTUALLY_FRAME" val="{&quot;height&quot;:463.5,&quot;left&quot;:322.35,&quot;top&quot;:163.75,&quot;width&quot;:338.8}"/>
</p:tagLst>
</file>

<file path=ppt/tags/tag8.xml><?xml version="1.0" encoding="utf-8"?>
<p:tagLst xmlns:p="http://schemas.openxmlformats.org/presentationml/2006/main">
  <p:tag name="KSO_WM_DIAGRAM_VIRTUALLY_FRAME" val="{&quot;height&quot;:463.5,&quot;left&quot;:322.35,&quot;top&quot;:163.75,&quot;width&quot;:338.8}"/>
</p:tagLst>
</file>

<file path=ppt/tags/tag9.xml><?xml version="1.0" encoding="utf-8"?>
<p:tagLst xmlns:p="http://schemas.openxmlformats.org/presentationml/2006/main">
  <p:tag name="KSO_WM_DIAGRAM_VIRTUALLY_FRAME" val="{&quot;height&quot;:463.5,&quot;left&quot;:322.35,&quot;top&quot;:163.75,&quot;width&quot;:338.8}"/>
</p:tagLst>
</file>

<file path=ppt/tags/tag10.xml><?xml version="1.0" encoding="utf-8"?>
<p:tagLst xmlns:p="http://schemas.openxmlformats.org/presentationml/2006/main">
  <p:tag name="KSO_WM_DIAGRAM_VIRTUALLY_FRAME" val="{&quot;height&quot;:463.5,&quot;left&quot;:322.35,&quot;top&quot;:163.75,&quot;width&quot;:338.8}"/>
</p:tagLst>
</file>

<file path=ppt/tags/tag11.xml><?xml version="1.0" encoding="utf-8"?>
<p:tagLst xmlns:p="http://schemas.openxmlformats.org/presentationml/2006/main">
  <p:tag name="KSO_WM_DIAGRAM_VIRTUALLY_FRAME" val="{&quot;height&quot;:463.5,&quot;left&quot;:322.35,&quot;top&quot;:163.75,&quot;width&quot;:338.8}"/>
</p:tagLst>
</file>

<file path=ppt/tags/tag12.xml><?xml version="1.0" encoding="utf-8"?>
<p:tagLst xmlns:p="http://schemas.openxmlformats.org/presentationml/2006/main">
  <p:tag name="MH" val="20151126150826"/>
  <p:tag name="MH_LIBRARY" val="GRAPHIC"/>
  <p:tag name="MH_TYPE" val="Other"/>
  <p:tag name="MH_ORDER" val="1"/>
</p:tagLst>
</file>

<file path=ppt/tags/tag13.xml><?xml version="1.0" encoding="utf-8"?>
<p:tagLst xmlns:p="http://schemas.openxmlformats.org/presentationml/2006/main">
  <p:tag name="MH" val="20151126150826"/>
  <p:tag name="MH_LIBRARY" val="GRAPHIC"/>
  <p:tag name="MH_TYPE" val="Other"/>
  <p:tag name="MH_ORDER" val="2"/>
</p:tagLst>
</file>

<file path=ppt/tags/tag14.xml><?xml version="1.0" encoding="utf-8"?>
<p:tagLst xmlns:p="http://schemas.openxmlformats.org/presentationml/2006/main">
  <p:tag name="MH" val="20151126150826"/>
  <p:tag name="MH_LIBRARY" val="GRAPHIC"/>
  <p:tag name="MH_TYPE" val="Other"/>
  <p:tag name="MH_ORDER" val="3"/>
</p:tagLst>
</file>

<file path=ppt/tags/tag15.xml><?xml version="1.0" encoding="utf-8"?>
<p:tagLst xmlns:p="http://schemas.openxmlformats.org/presentationml/2006/main">
  <p:tag name="MH" val="20151126150826"/>
  <p:tag name="MH_LIBRARY" val="GRAPHIC"/>
  <p:tag name="MH_TYPE" val="Other"/>
  <p:tag name="MH_ORDER" val="4"/>
</p:tagLst>
</file>

<file path=ppt/tags/tag16.xml><?xml version="1.0" encoding="utf-8"?>
<p:tagLst xmlns:p="http://schemas.openxmlformats.org/presentationml/2006/main">
  <p:tag name="KSO_WM_DIAGRAM_VIRTUALLY_FRAME" val="{&quot;height&quot;:398.5999750801097,&quot;left&quot;:62.79996300647436,&quot;top&quot;:136.49999999999994,&quot;width&quot;:855.8000047276071}"/>
</p:tagLst>
</file>

<file path=ppt/tags/tag17.xml><?xml version="1.0" encoding="utf-8"?>
<p:tagLst xmlns:p="http://schemas.openxmlformats.org/presentationml/2006/main">
  <p:tag name="KSO_WM_DIAGRAM_VIRTUALLY_FRAME" val="{&quot;height&quot;:398.5999750801097,&quot;left&quot;:62.79996300647436,&quot;top&quot;:136.49999999999994,&quot;width&quot;:855.8000047276071}"/>
</p:tagLst>
</file>

<file path=ppt/tags/tag18.xml><?xml version="1.0" encoding="utf-8"?>
<p:tagLst xmlns:p="http://schemas.openxmlformats.org/presentationml/2006/main">
  <p:tag name="KSO_WM_DIAGRAM_VIRTUALLY_FRAME" val="{&quot;height&quot;:398.5999750801097,&quot;left&quot;:62.79996300647436,&quot;top&quot;:136.49999999999994,&quot;width&quot;:855.8000047276071}"/>
</p:tagLst>
</file>

<file path=ppt/tags/tag19.xml><?xml version="1.0" encoding="utf-8"?>
<p:tagLst xmlns:p="http://schemas.openxmlformats.org/presentationml/2006/main">
  <p:tag name="KSO_WM_DIAGRAM_VIRTUALLY_FRAME" val="{&quot;height&quot;:398.5999750801097,&quot;left&quot;:62.79996300647436,&quot;top&quot;:136.49999999999994,&quot;width&quot;:855.8000047276071}"/>
</p:tagLst>
</file>

<file path=ppt/tags/tag20.xml><?xml version="1.0" encoding="utf-8"?>
<p:tagLst xmlns:p="http://schemas.openxmlformats.org/presentationml/2006/main">
  <p:tag name="KSO_WM_DIAGRAM_VIRTUALLY_FRAME" val="{&quot;height&quot;:398.5999750801097,&quot;left&quot;:62.79996300647436,&quot;top&quot;:136.49999999999994,&quot;width&quot;:855.8000047276071}"/>
</p:tagLst>
</file>

<file path=ppt/tags/tag21.xml><?xml version="1.0" encoding="utf-8"?>
<p:tagLst xmlns:p="http://schemas.openxmlformats.org/presentationml/2006/main">
  <p:tag name="KSO_WM_DIAGRAM_VIRTUALLY_FRAME" val="{&quot;height&quot;:398.5999750801097,&quot;left&quot;:62.79996300647436,&quot;top&quot;:136.49999999999994,&quot;width&quot;:855.8000047276071}"/>
</p:tagLst>
</file>

<file path=ppt/tags/tag22.xml><?xml version="1.0" encoding="utf-8"?>
<p:tagLst xmlns:p="http://schemas.openxmlformats.org/presentationml/2006/main">
  <p:tag name="KSO_WM_DIAGRAM_VIRTUALLY_FRAME" val="{&quot;height&quot;:186.65,&quot;left&quot;:176.85,&quot;top&quot;:116.05,&quot;width&quot;:578.2}"/>
</p:tagLst>
</file>

<file path=ppt/tags/tag23.xml><?xml version="1.0" encoding="utf-8"?>
<p:tagLst xmlns:p="http://schemas.openxmlformats.org/presentationml/2006/main">
  <p:tag name="KSO_WM_DIAGRAM_VIRTUALLY_FRAME" val="{&quot;height&quot;:186.65,&quot;left&quot;:176.85,&quot;top&quot;:116.05,&quot;width&quot;:578.2}"/>
</p:tagLst>
</file>

<file path=ppt/tags/tag24.xml><?xml version="1.0" encoding="utf-8"?>
<p:tagLst xmlns:p="http://schemas.openxmlformats.org/presentationml/2006/main">
  <p:tag name="KSO_WM_DIAGRAM_VIRTUALLY_FRAME" val="{&quot;height&quot;:186.65,&quot;left&quot;:176.85,&quot;top&quot;:116.05,&quot;width&quot;:578.2}"/>
</p:tagLst>
</file>

<file path=ppt/tags/tag25.xml><?xml version="1.0" encoding="utf-8"?>
<p:tagLst xmlns:p="http://schemas.openxmlformats.org/presentationml/2006/main">
  <p:tag name="KSO_WM_DIAGRAM_VIRTUALLY_FRAME" val="{&quot;height&quot;:186.65,&quot;left&quot;:176.85,&quot;top&quot;:116.05,&quot;width&quot;:578.2}"/>
</p:tagLst>
</file>

<file path=ppt/tags/tag26.xml><?xml version="1.0" encoding="utf-8"?>
<p:tagLst xmlns:p="http://schemas.openxmlformats.org/presentationml/2006/main">
  <p:tag name="KSO_WM_DIAGRAM_VIRTUALLY_FRAME" val="{&quot;height&quot;:186.65,&quot;left&quot;:176.85,&quot;top&quot;:116.05,&quot;width&quot;:578.2}"/>
</p:tagLst>
</file>

<file path=ppt/tags/tag27.xml><?xml version="1.0" encoding="utf-8"?>
<p:tagLst xmlns:p="http://schemas.openxmlformats.org/presentationml/2006/main">
  <p:tag name="KSO_WM_DIAGRAM_VIRTUALLY_FRAME" val="{&quot;height&quot;:186.65,&quot;left&quot;:176.85,&quot;top&quot;:116.05,&quot;width&quot;:578.2}"/>
</p:tagLst>
</file>

<file path=ppt/tags/tag28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29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30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31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32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33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34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35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36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37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38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39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40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41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42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43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44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45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46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47.xml><?xml version="1.0" encoding="utf-8"?>
<p:tagLst xmlns:p="http://schemas.openxmlformats.org/presentationml/2006/main">
  <p:tag name="KSO_WM_DIAGRAM_VIRTUALLY_FRAME" val="{&quot;height&quot;:432.55,&quot;left&quot;:75.45,&quot;top&quot;:94.85,&quot;width&quot;:830.35}"/>
</p:tagLst>
</file>

<file path=ppt/tags/tag48.xml><?xml version="1.0" encoding="utf-8"?>
<p:tagLst xmlns:p="http://schemas.openxmlformats.org/presentationml/2006/main">
  <p:tag name="KSO_WM_DIAGRAM_VIRTUALLY_FRAME" val="{&quot;height&quot;:305.62496062992125,&quot;left&quot;:319.4750393700787,&quot;top&quot;:145.22503937007872,&quot;width&quot;:585.5}"/>
</p:tagLst>
</file>

<file path=ppt/tags/tag49.xml><?xml version="1.0" encoding="utf-8"?>
<p:tagLst xmlns:p="http://schemas.openxmlformats.org/presentationml/2006/main">
  <p:tag name="KSO_WM_DIAGRAM_VIRTUALLY_FRAME" val="{&quot;height&quot;:305.62496062992125,&quot;left&quot;:319.4750393700787,&quot;top&quot;:145.22503937007872,&quot;width&quot;:585.5}"/>
</p:tagLst>
</file>

<file path=ppt/tags/tag50.xml><?xml version="1.0" encoding="utf-8"?>
<p:tagLst xmlns:p="http://schemas.openxmlformats.org/presentationml/2006/main">
  <p:tag name="KSO_WM_DIAGRAM_VIRTUALLY_FRAME" val="{&quot;height&quot;:305.62496062992125,&quot;left&quot;:319.4750393700787,&quot;top&quot;:145.22503937007872,&quot;width&quot;:585.5}"/>
</p:tagLst>
</file>

<file path=ppt/tags/tag51.xml><?xml version="1.0" encoding="utf-8"?>
<p:tagLst xmlns:p="http://schemas.openxmlformats.org/presentationml/2006/main">
  <p:tag name="KSO_WM_DIAGRAM_VIRTUALLY_FRAME" val="{&quot;height&quot;:305.62496062992125,&quot;left&quot;:319.4750393700787,&quot;top&quot;:145.22503937007872,&quot;width&quot;:585.5}"/>
</p:tagLst>
</file>

<file path=ppt/tags/tag52.xml><?xml version="1.0" encoding="utf-8"?>
<p:tagLst xmlns:p="http://schemas.openxmlformats.org/presentationml/2006/main">
  <p:tag name="KSO_WM_DIAGRAM_VIRTUALLY_FRAME" val="{&quot;height&quot;:305.62496062992125,&quot;left&quot;:319.4750393700787,&quot;top&quot;:145.22503937007872,&quot;width&quot;:585.5}"/>
</p:tagLst>
</file>

<file path=ppt/tags/tag53.xml><?xml version="1.0" encoding="utf-8"?>
<p:tagLst xmlns:p="http://schemas.openxmlformats.org/presentationml/2006/main">
  <p:tag name="KSO_WM_DIAGRAM_VIRTUALLY_FRAME" val="{&quot;height&quot;:305.62496062992125,&quot;left&quot;:319.4750393700787,&quot;top&quot;:145.22503937007872,&quot;width&quot;:585.5}"/>
</p:tagLst>
</file>

<file path=ppt/tags/tag54.xml><?xml version="1.0" encoding="utf-8"?>
<p:tagLst xmlns:p="http://schemas.openxmlformats.org/presentationml/2006/main">
  <p:tag name="KSO_WM_DIAGRAM_VIRTUALLY_FRAME" val="{&quot;height&quot;:305.62496062992125,&quot;left&quot;:319.4750393700787,&quot;top&quot;:145.22503937007872,&quot;width&quot;:585.5}"/>
</p:tagLst>
</file>

<file path=ppt/tags/tag55.xml><?xml version="1.0" encoding="utf-8"?>
<p:tagLst xmlns:p="http://schemas.openxmlformats.org/presentationml/2006/main">
  <p:tag name="KSO_WM_DIAGRAM_VIRTUALLY_FRAME" val="{&quot;height&quot;:305.62496062992125,&quot;left&quot;:319.4750393700787,&quot;top&quot;:145.22503937007872,&quot;width&quot;:585.5}"/>
</p:tagLst>
</file>

<file path=ppt/tags/tag56.xml><?xml version="1.0" encoding="utf-8"?>
<p:tagLst xmlns:p="http://schemas.openxmlformats.org/presentationml/2006/main">
  <p:tag name="KSO_WM_DIAGRAM_VIRTUALLY_FRAME" val="{&quot;height&quot;:305.62496062992125,&quot;left&quot;:319.4750393700787,&quot;top&quot;:145.22503937007872,&quot;width&quot;:585.5}"/>
</p:tagLst>
</file>

<file path=ppt/tags/tag57.xml><?xml version="1.0" encoding="utf-8"?>
<p:tagLst xmlns:p="http://schemas.openxmlformats.org/presentationml/2006/main">
  <p:tag name="KSO_WM_DIAGRAM_VIRTUALLY_FRAME" val="{&quot;height&quot;:305.62496062992125,&quot;left&quot;:319.4750393700787,&quot;top&quot;:145.22503937007872,&quot;width&quot;:585.5}"/>
</p:tagLst>
</file>

<file path=ppt/tags/tag58.xml><?xml version="1.0" encoding="utf-8"?>
<p:tagLst xmlns:p="http://schemas.openxmlformats.org/presentationml/2006/main">
  <p:tag name="KSO_WM_DIAGRAM_VIRTUALLY_FRAME" val="{&quot;height&quot;:305.62496062992125,&quot;left&quot;:319.4750393700787,&quot;top&quot;:145.22503937007872,&quot;width&quot;:585.5}"/>
</p:tagLst>
</file>

<file path=ppt/tags/tag59.xml><?xml version="1.0" encoding="utf-8"?>
<p:tagLst xmlns:p="http://schemas.openxmlformats.org/presentationml/2006/main">
  <p:tag name="KSO_WM_DIAGRAM_VIRTUALLY_FRAME" val="{&quot;height&quot;:305.62496062992125,&quot;left&quot;:319.4750393700787,&quot;top&quot;:145.22503937007872,&quot;width&quot;:585.5}"/>
</p:tagLst>
</file>

<file path=ppt/tags/tag60.xml><?xml version="1.0" encoding="utf-8"?>
<p:tagLst xmlns:p="http://schemas.openxmlformats.org/presentationml/2006/main">
  <p:tag name="KSO_WM_DIAGRAM_VIRTUALLY_FRAME" val="{&quot;height&quot;:398.5999750801097,&quot;left&quot;:62.79996300647436,&quot;top&quot;:136.49999999999994,&quot;width&quot;:855.8000047276071}"/>
</p:tagLst>
</file>

<file path=ppt/tags/tag61.xml><?xml version="1.0" encoding="utf-8"?>
<p:tagLst xmlns:p="http://schemas.openxmlformats.org/presentationml/2006/main">
  <p:tag name="KSO_WM_DIAGRAM_VIRTUALLY_FRAME" val="{&quot;height&quot;:398.5999750801097,&quot;left&quot;:62.79996300647436,&quot;top&quot;:136.49999999999994,&quot;width&quot;:855.8000047276071}"/>
</p:tagLst>
</file>

<file path=ppt/tags/tag62.xml><?xml version="1.0" encoding="utf-8"?>
<p:tagLst xmlns:p="http://schemas.openxmlformats.org/presentationml/2006/main">
  <p:tag name="KSO_WM_DIAGRAM_VIRTUALLY_FRAME" val="{&quot;height&quot;:398.5999750801097,&quot;left&quot;:62.79996300647436,&quot;top&quot;:136.49999999999994,&quot;width&quot;:855.8000047276071}"/>
</p:tagLst>
</file>

<file path=ppt/tags/tag63.xml><?xml version="1.0" encoding="utf-8"?>
<p:tagLst xmlns:p="http://schemas.openxmlformats.org/presentationml/2006/main">
  <p:tag name="KSO_WM_DIAGRAM_VIRTUALLY_FRAME" val="{&quot;height&quot;:398.5999750801097,&quot;left&quot;:62.79996300647436,&quot;top&quot;:136.49999999999994,&quot;width&quot;:855.8000047276071}"/>
</p:tagLst>
</file>

<file path=ppt/tags/tag64.xml><?xml version="1.0" encoding="utf-8"?>
<p:tagLst xmlns:p="http://schemas.openxmlformats.org/presentationml/2006/main">
  <p:tag name="KSO_WM_DIAGRAM_VIRTUALLY_FRAME" val="{&quot;height&quot;:398.5999750801097,&quot;left&quot;:62.79996300647436,&quot;top&quot;:136.49999999999994,&quot;width&quot;:855.8000047276071}"/>
</p:tagLst>
</file>

<file path=ppt/tags/tag65.xml><?xml version="1.0" encoding="utf-8"?>
<p:tagLst xmlns:p="http://schemas.openxmlformats.org/presentationml/2006/main">
  <p:tag name="KSO_WM_DIAGRAM_VIRTUALLY_FRAME" val="{&quot;height&quot;:398.5999750801097,&quot;left&quot;:62.79996300647436,&quot;top&quot;:136.49999999999994,&quot;width&quot;:855.8000047276071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1360</Words>
  <Application>WPS 演示</Application>
  <PresentationFormat>宽屏</PresentationFormat>
  <Paragraphs>204</Paragraphs>
  <Slides>18</Slides>
  <Notes>8</Notes>
  <HiddenSlides>2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字魂45号-冰宇雅宋</vt:lpstr>
      <vt:lpstr>Arial</vt:lpstr>
      <vt:lpstr>华文新魏</vt:lpstr>
      <vt:lpstr>Arial Unicode MS</vt:lpstr>
      <vt:lpstr>字魂105号-简雅黑</vt:lpstr>
      <vt:lpstr>黑体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中国风</dc:title>
  <dc:creator>第一PPT</dc:creator>
  <cp:keywords>www.1ppt.com</cp:keywords>
  <dc:description>www.1ppt.com</dc:description>
  <cp:lastModifiedBy>微信用户</cp:lastModifiedBy>
  <cp:revision>37</cp:revision>
  <dcterms:created xsi:type="dcterms:W3CDTF">2022-05-15T12:41:00Z</dcterms:created>
  <dcterms:modified xsi:type="dcterms:W3CDTF">2026-10-10T09:02:48Z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5EDF72171BA149DE89925126F0C3BD2A_13</vt:lpwstr>
  </property>
  <property fmtid="{D5CDD505-2E9C-101B-9397-08002B2CF9AE}" pid="3" name="KSOProductBuildVer">
    <vt:lpwstr>2052-12.1.0.28505</vt:lpwstr>
  </property>
</Properties>
</file>